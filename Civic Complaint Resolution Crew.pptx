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052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idea: a crew of AI agents that handles municipal complaints end to end, in the languages citizens actually write in, with every decision traceable to a rule.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Misrouting: mixed-language text and boundary cases such as waterlogging. Duplicates: one issue reported many times. Accountability: missed SLAs with no escalation and no record of why. Our system targets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pitch. Five agents in a CrewAI Flow, a 27-clause citizen charter that every decision must cite, three input languages, and two Streamlit apps: one for citizens, one for municipal staff. Demo city is Gurugram, all data synthetic.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a citizen submits in the citizen app, the CrewAI Flow processes it using the local or API model and ChromaDB search over the charter, all decisions are written to PostgreSQL, replies and alerts go out through the n8n webhook, which stores them, and the department app reads everything back from PostgreSQL.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CrewAI Flow with a real branch, built with the start, router and listen decorators. Intake extracts structure. The duplicate checker searches open complaints; if it is a repeat we skip routing and merge into the oldest open case (CC-5.2). Otherwise the router assigns department and priority. Either way the communication agent replies, and n8n delivers.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a role, goal and backstory in CrewAI, and only the tools it needs. The two tools are search_open_complaints and search_citizen_charter, both backed by ChromaDB with bge-m3 embeddings so Hindi, Hinglish and English land in the same vector space.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principle: language and judgement go to the LLM, anything that must be exact goes to Python. The model's answer is checked against the charter, and when Python overrides it, the override is logged so staff can see it. This is what makes a small local model safe to 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on the local model. Note that the router cited CC-2.3, the boundary rule that sends fallen trees to Parks and Trees rather than Roads, and CC-3.1 for critical priority. Critical complaints are copied to the level 2 officer immediately. The reply quotes the ID, department and target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B. Python computes each open complaint's age against its target, decides the level and the officer exactly, and updates escalation_level so nobody is alerted twice. The SLA agent only writes the covering paragraph. On our first run it found 31 breaches in the synthetic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sits at the boundary between the AI system and the outside world. The crew never knows how a message is delivered; it posts JSON to one webhook. The Executions tab in n8n is a delivery log. If n8n is down, the crew keeps working and the message stays in agent_actions.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here: submit a Hinglish complaint in the citizen app and let the audience watch the agent steps appear. Switch to the department app, refresh, open the audit trail, then resolve it and show the citizen's tracking update. Both apps share one PostgreSQL database and one copy of the crew code.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and local except the optional Gemini API. We built a copy of qwen2.5 with an 8K context window because CrewAI's prompts overflow Ollama's default. Code is on GitHub at armaan-lakhanpal/civic-complaint-crew with a one-step setup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sample size. The headline numbers are from the Gemini run of 5 complaints, English and Hindi, with one planted duplicate. The comparison shows why guardrails matter: the larger API model got everything right on its own, while the small local model reached the same final decisions only because the rule checks corrected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hit both failure types during testing: Gemini returned 503 overloaded, then 429 when the free tier's 15 requests per minute ran out. Waiting is the right answer for a rate limit, falling back is right for an outage. Each switch is printed and logged.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before the panel asks. The architecture is designed so each next step is local: delivery channels change in n8n only, the schedule is a cron or n8n trigger, and real data only needs a new loader and answer key.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repository link and offer the live demo: citizen app on port 8501, department app on 8502. Keep Local mode selected so the demo does not depend on the API quota.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4"/>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4"/>
            <a:ext cx="10566400" cy="4109716"/>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4"/>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E1A2B"/>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4"/>
            <a:ext cx="10566400" cy="4109716"/>
          </a:xfrm>
          <a:prstGeom prst="rect">
            <a:avLst/>
          </a:prstGeom>
          <a:noFill/>
          <a:ln/>
        </p:spPr>
        <p:txBody>
          <a:bodyPr wrap="square" lIns="0" tIns="0" rIns="0" bIns="0" rtlCol="0" anchor="t"/>
          <a:lstStyle>
            <a:lvl1pPr marL="0" indent="0" algn="l">
              <a:lnSpc>
                <a:spcPct val="140000"/>
              </a:lnSpc>
              <a:buNone/>
              <a:defRPr lang="en-US" sz="1600" dirty="0">
                <a:solidFill>
                  <a:srgbClr val="0E1A2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2"/>
        </a:solidFill>
        <a:effectLst/>
      </p:bgPr>
    </p:bg>
    <p:spTree>
      <p:nvGrpSpPr>
        <p:cNvPr id="1" name=""/>
        <p:cNvGrpSpPr/>
        <p:nvPr/>
      </p:nvGrpSpPr>
      <p:grpSpPr>
        <a:xfrm>
          <a:off x="0" y="0"/>
          <a:ext cx="0" cy="0"/>
          <a:chOff x="0" y="0"/>
          <a:chExt cx="0" cy="0"/>
        </a:xfrm>
      </p:grpSpPr>
      <p:sp>
        <p:nvSpPr>
          <p:cNvPr id="2" name="Shape 0"/>
          <p:cNvSpPr/>
          <p:nvPr/>
        </p:nvSpPr>
        <p:spPr>
          <a:xfrm>
            <a:off x="8128000" y="-130629"/>
            <a:ext cx="4064000" cy="6858000"/>
          </a:xfrm>
          <a:prstGeom prst="rect">
            <a:avLst/>
          </a:prstGeom>
          <a:solidFill>
            <a:srgbClr val="0E1A2B"/>
          </a:solidFill>
          <a:ln/>
        </p:spPr>
        <p:txBody>
          <a:bodyPr/>
          <a:lstStyle/>
          <a:p>
            <a:endParaRPr lang="en-IN"/>
          </a:p>
        </p:txBody>
      </p:sp>
      <p:sp>
        <p:nvSpPr>
          <p:cNvPr id="3" name="Shape 1"/>
          <p:cNvSpPr/>
          <p:nvPr/>
        </p:nvSpPr>
        <p:spPr>
          <a:xfrm>
            <a:off x="8128000" y="0"/>
            <a:ext cx="101600" cy="6858000"/>
          </a:xfrm>
          <a:prstGeom prst="rect">
            <a:avLst/>
          </a:prstGeom>
          <a:solidFill>
            <a:srgbClr val="0093DD"/>
          </a:solidFill>
          <a:ln/>
        </p:spPr>
        <p:txBody>
          <a:bodyPr/>
          <a:lstStyle/>
          <a:p>
            <a:endParaRPr lang="en-IN"/>
          </a:p>
        </p:txBody>
      </p:sp>
      <p:pic>
        <p:nvPicPr>
          <p:cNvPr id="4" name="Image 0" descr="FORE School of Management logo"/>
          <p:cNvPicPr>
            <a:picLocks noChangeAspect="1"/>
          </p:cNvPicPr>
          <p:nvPr/>
        </p:nvPicPr>
        <p:blipFill>
          <a:blip r:embed="rId3"/>
          <a:srcRect l="-325" r="-325"/>
          <a:stretch/>
        </p:blipFill>
        <p:spPr>
          <a:xfrm>
            <a:off x="812800" y="812800"/>
            <a:ext cx="2501900" cy="756126"/>
          </a:xfrm>
          <a:prstGeom prst="rect">
            <a:avLst/>
          </a:prstGeom>
        </p:spPr>
      </p:pic>
      <p:sp>
        <p:nvSpPr>
          <p:cNvPr id="5" name="Text 2"/>
          <p:cNvSpPr/>
          <p:nvPr/>
        </p:nvSpPr>
        <p:spPr>
          <a:xfrm>
            <a:off x="812800" y="1568926"/>
            <a:ext cx="6802120" cy="236934"/>
          </a:xfrm>
          <a:prstGeom prst="rect">
            <a:avLst/>
          </a:prstGeom>
          <a:noFill/>
          <a:ln/>
        </p:spPr>
        <p:txBody>
          <a:bodyPr wrap="square" lIns="0" tIns="0" rIns="0" bIns="0" rtlCol="0" anchor="t">
            <a:normAutofit/>
          </a:bodyPr>
          <a:lstStyle/>
          <a:p>
            <a:pPr marL="0" indent="0" algn="l">
              <a:lnSpc>
                <a:spcPts val="1675"/>
              </a:lnSpc>
              <a:buNone/>
            </a:pPr>
            <a:r>
              <a:rPr lang="en-US" sz="1196" kern="0" spc="100" dirty="0">
                <a:solidFill>
                  <a:srgbClr val="00639B"/>
                </a:solidFill>
                <a:latin typeface="Courier New" pitchFamily="49" charset="0"/>
                <a:ea typeface="Courier New" pitchFamily="49" charset="-122"/>
                <a:cs typeface="Courier New" pitchFamily="49" charset="-120"/>
              </a:rPr>
              <a:t>AGENTIC AI FOR BUSINESS AUTOMATION</a:t>
            </a:r>
            <a:endParaRPr lang="en-US" sz="1196" dirty="0"/>
          </a:p>
        </p:txBody>
      </p:sp>
      <p:sp>
        <p:nvSpPr>
          <p:cNvPr id="6" name="Text 3"/>
          <p:cNvSpPr>
            <a:spLocks noGrp="1"/>
          </p:cNvSpPr>
          <p:nvPr>
            <p:ph type="title"/>
          </p:nvPr>
        </p:nvSpPr>
        <p:spPr>
          <a:xfrm>
            <a:off x="812800" y="1983661"/>
            <a:ext cx="6802120" cy="3107928"/>
          </a:xfrm>
          <a:prstGeom prst="rect">
            <a:avLst/>
          </a:prstGeom>
          <a:noFill/>
          <a:ln/>
        </p:spPr>
        <p:txBody>
          <a:bodyPr wrap="square" lIns="0" tIns="0" rIns="0" bIns="0" rtlCol="0" anchor="t">
            <a:normAutofit/>
          </a:bodyPr>
          <a:lstStyle/>
          <a:p>
            <a:pPr marL="0" indent="0" algn="l">
              <a:lnSpc>
                <a:spcPts val="6063"/>
              </a:lnSpc>
              <a:buNone/>
            </a:pPr>
            <a:r>
              <a:rPr lang="en-US" sz="5944" b="1" i="0" dirty="0">
                <a:solidFill>
                  <a:srgbClr val="0E1A2B"/>
                </a:solidFill>
                <a:latin typeface="Arial" pitchFamily="34" charset="0"/>
                <a:ea typeface="Arial" pitchFamily="34" charset="-122"/>
                <a:cs typeface="Arial" pitchFamily="34" charset="-120"/>
              </a:rPr>
              <a:t>CIVIC COMPLAINT</a:t>
            </a:r>
            <a:endParaRPr lang="en-US" sz="5944" dirty="0"/>
          </a:p>
          <a:p>
            <a:pPr marL="0" indent="0" algn="l">
              <a:lnSpc>
                <a:spcPts val="6063"/>
              </a:lnSpc>
              <a:buNone/>
            </a:pPr>
            <a:r>
              <a:rPr lang="en-US" sz="5944" b="1" i="0" dirty="0">
                <a:solidFill>
                  <a:srgbClr val="0E1A2B"/>
                </a:solidFill>
                <a:latin typeface="Arial" pitchFamily="34" charset="0"/>
                <a:ea typeface="Arial" pitchFamily="34" charset="-122"/>
                <a:cs typeface="Arial" pitchFamily="34" charset="-120"/>
              </a:rPr>
              <a:t>RESOLUTION CREW</a:t>
            </a:r>
            <a:endParaRPr lang="en-US" sz="5944" dirty="0"/>
          </a:p>
        </p:txBody>
      </p:sp>
      <p:sp>
        <p:nvSpPr>
          <p:cNvPr id="7" name="Text 4"/>
          <p:cNvSpPr/>
          <p:nvPr/>
        </p:nvSpPr>
        <p:spPr>
          <a:xfrm>
            <a:off x="812800" y="5269389"/>
            <a:ext cx="6802120" cy="589518"/>
          </a:xfrm>
          <a:prstGeom prst="rect">
            <a:avLst/>
          </a:prstGeom>
          <a:noFill/>
          <a:ln/>
        </p:spPr>
        <p:txBody>
          <a:bodyPr wrap="square" lIns="0" tIns="0" rIns="0" bIns="0" rtlCol="0" anchor="t">
            <a:normAutofit/>
          </a:bodyPr>
          <a:lstStyle/>
          <a:p>
            <a:pPr marL="0" indent="0" algn="l">
              <a:lnSpc>
                <a:spcPts val="2233"/>
              </a:lnSpc>
              <a:buNone/>
            </a:pPr>
            <a:r>
              <a:rPr lang="en-US" sz="1595" dirty="0">
                <a:solidFill>
                  <a:srgbClr val="3E4B5C"/>
                </a:solidFill>
                <a:latin typeface="Arial" pitchFamily="34" charset="0"/>
                <a:ea typeface="Arial" pitchFamily="34" charset="-122"/>
                <a:cs typeface="Arial" pitchFamily="34" charset="-120"/>
              </a:rPr>
              <a:t>Five AI agents that read, route, answer and escalate citizen complaints in English, Hindi and Hinglish, and cite the city rulebook for every decision.</a:t>
            </a:r>
            <a:endParaRPr lang="en-US" sz="1595" dirty="0"/>
          </a:p>
        </p:txBody>
      </p:sp>
      <p:sp>
        <p:nvSpPr>
          <p:cNvPr id="8" name="Text 5"/>
          <p:cNvSpPr/>
          <p:nvPr/>
        </p:nvSpPr>
        <p:spPr>
          <a:xfrm>
            <a:off x="812800" y="5833507"/>
            <a:ext cx="10883392" cy="237093"/>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5F6B7A"/>
                </a:solidFill>
                <a:latin typeface="Arial" pitchFamily="34" charset="0"/>
                <a:ea typeface="Arial" pitchFamily="34" charset="-122"/>
                <a:cs typeface="Arial" pitchFamily="34" charset="-120"/>
              </a:rPr>
              <a:t>PGDM (Big Data Analytics) 2025-27 · October 2026</a:t>
            </a:r>
            <a:endParaRPr lang="en-US" sz="1196" dirty="0"/>
          </a:p>
        </p:txBody>
      </p:sp>
      <p:sp>
        <p:nvSpPr>
          <p:cNvPr id="9" name="Text 6"/>
          <p:cNvSpPr/>
          <p:nvPr/>
        </p:nvSpPr>
        <p:spPr>
          <a:xfrm>
            <a:off x="8737600" y="812800"/>
            <a:ext cx="2930144" cy="23876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10" name="Text 7"/>
          <p:cNvSpPr/>
          <p:nvPr/>
        </p:nvSpPr>
        <p:spPr>
          <a:xfrm>
            <a:off x="8737600" y="1270000"/>
            <a:ext cx="2930144" cy="2514600"/>
          </a:xfrm>
          <a:prstGeom prst="rect">
            <a:avLst/>
          </a:prstGeom>
          <a:noFill/>
          <a:ln/>
        </p:spPr>
        <p:txBody>
          <a:bodyPr wrap="square" lIns="0" tIns="0" rIns="0" bIns="0" rtlCol="0" anchor="t">
            <a:normAutofit/>
          </a:bodyPr>
          <a:lstStyle/>
          <a:p>
            <a:pPr marL="0" indent="0" algn="ctr">
              <a:lnSpc>
                <a:spcPts val="2800"/>
              </a:lnSpc>
              <a:buNone/>
            </a:pPr>
            <a:r>
              <a:rPr lang="en-US" sz="1400" dirty="0">
                <a:solidFill>
                  <a:srgbClr val="F4F6F2"/>
                </a:solidFill>
                <a:latin typeface="Arial" pitchFamily="34" charset="0"/>
                <a:ea typeface="Arial" pitchFamily="34" charset="-122"/>
                <a:cs typeface="Arial" pitchFamily="34" charset="-120"/>
              </a:rPr>
              <a:t>Created by:</a:t>
            </a:r>
          </a:p>
          <a:p>
            <a:pPr marL="0" indent="0" algn="ctr">
              <a:lnSpc>
                <a:spcPts val="2800"/>
              </a:lnSpc>
              <a:buNone/>
            </a:pPr>
            <a:r>
              <a:rPr lang="en-US" sz="1600" dirty="0">
                <a:solidFill>
                  <a:srgbClr val="F4F6F2"/>
                </a:solidFill>
                <a:latin typeface="Arial" pitchFamily="34" charset="0"/>
                <a:ea typeface="Arial" pitchFamily="34" charset="-122"/>
                <a:cs typeface="Arial" pitchFamily="34" charset="-120"/>
              </a:rPr>
              <a:t>Armaan Lakhanpal</a:t>
            </a:r>
          </a:p>
          <a:p>
            <a:pPr marL="0" indent="0" algn="ctr">
              <a:lnSpc>
                <a:spcPts val="2800"/>
              </a:lnSpc>
              <a:buNone/>
            </a:pPr>
            <a:endParaRPr lang="en-US" sz="1600" dirty="0">
              <a:solidFill>
                <a:srgbClr val="F4F6F2"/>
              </a:solidFill>
              <a:latin typeface="Arial" pitchFamily="34" charset="0"/>
              <a:cs typeface="Arial" pitchFamily="34" charset="-120"/>
            </a:endParaRPr>
          </a:p>
          <a:p>
            <a:pPr marL="0" indent="0" algn="ctr">
              <a:lnSpc>
                <a:spcPts val="2800"/>
              </a:lnSpc>
              <a:buNone/>
            </a:pPr>
            <a:r>
              <a:rPr lang="en-US" sz="1600" dirty="0">
                <a:solidFill>
                  <a:srgbClr val="F4F6F2"/>
                </a:solidFill>
                <a:latin typeface="Arial" pitchFamily="34" charset="0"/>
                <a:cs typeface="Arial" pitchFamily="34" charset="-120"/>
              </a:rPr>
              <a:t>This Project is uploaded on github.com/</a:t>
            </a:r>
            <a:r>
              <a:rPr lang="en-US" sz="1600" dirty="0" err="1">
                <a:solidFill>
                  <a:srgbClr val="F4F6F2"/>
                </a:solidFill>
                <a:latin typeface="Arial" pitchFamily="34" charset="0"/>
                <a:cs typeface="Arial" pitchFamily="34" charset="-120"/>
              </a:rPr>
              <a:t>armaan-lakhanpal</a:t>
            </a:r>
            <a:endParaRPr lang="en-US" sz="1600" dirty="0"/>
          </a:p>
        </p:txBody>
      </p:sp>
      <p:sp>
        <p:nvSpPr>
          <p:cNvPr id="11" name="Text 8"/>
          <p:cNvSpPr/>
          <p:nvPr/>
        </p:nvSpPr>
        <p:spPr>
          <a:xfrm>
            <a:off x="8737600" y="5588000"/>
            <a:ext cx="341376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Arial" pitchFamily="34" charset="0"/>
                <a:ea typeface="Arial" pitchFamily="34" charset="-122"/>
                <a:cs typeface="Arial" pitchFamily="34" charset="-120"/>
              </a:rPr>
              <a:t>FORE School of Management, New Delhi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02 / THE PROBLEM</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SORTING COMPLAINTS IS THE SLOW PART</a:t>
            </a:r>
            <a:endParaRPr lang="en-US" sz="3600" dirty="0"/>
          </a:p>
        </p:txBody>
      </p:sp>
      <p:sp>
        <p:nvSpPr>
          <p:cNvPr id="4" name="Text 2"/>
          <p:cNvSpPr/>
          <p:nvPr/>
        </p:nvSpPr>
        <p:spPr>
          <a:xfrm>
            <a:off x="812800" y="1935480"/>
            <a:ext cx="4185920" cy="39319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0E1A2B"/>
                </a:solidFill>
                <a:latin typeface="Arial" pitchFamily="34" charset="0"/>
                <a:ea typeface="Arial" pitchFamily="34" charset="-122"/>
                <a:cs typeface="Arial" pitchFamily="34" charset="-120"/>
              </a:rPr>
              <a:t>A city helpline gets complaints as messy free text in three languages. Before any crew is sent, someone has to read, sort, check and route every one.</a:t>
            </a:r>
            <a:endParaRPr lang="en-US" sz="2200" dirty="0"/>
          </a:p>
        </p:txBody>
      </p:sp>
      <p:sp>
        <p:nvSpPr>
          <p:cNvPr id="5" name="Shape 3"/>
          <p:cNvSpPr/>
          <p:nvPr/>
        </p:nvSpPr>
        <p:spPr>
          <a:xfrm>
            <a:off x="5486400" y="1945005"/>
            <a:ext cx="5892800" cy="0"/>
          </a:xfrm>
          <a:prstGeom prst="line">
            <a:avLst/>
          </a:prstGeom>
          <a:noFill/>
          <a:ln w="19050">
            <a:solidFill>
              <a:srgbClr val="0E1A2B"/>
            </a:solidFill>
            <a:prstDash val="solid"/>
          </a:ln>
        </p:spPr>
        <p:txBody>
          <a:bodyPr/>
          <a:lstStyle/>
          <a:p>
            <a:endParaRPr lang="en-IN"/>
          </a:p>
        </p:txBody>
      </p:sp>
      <p:sp>
        <p:nvSpPr>
          <p:cNvPr id="6" name="Text 4"/>
          <p:cNvSpPr/>
          <p:nvPr/>
        </p:nvSpPr>
        <p:spPr>
          <a:xfrm>
            <a:off x="5486400" y="2103120"/>
            <a:ext cx="622300" cy="7620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0639B"/>
                </a:solidFill>
                <a:latin typeface="Arial" pitchFamily="34" charset="0"/>
                <a:ea typeface="Arial" pitchFamily="34" charset="-122"/>
                <a:cs typeface="Arial" pitchFamily="34" charset="-120"/>
              </a:rPr>
              <a:t>01</a:t>
            </a:r>
            <a:endParaRPr lang="en-US" sz="2200" dirty="0"/>
          </a:p>
        </p:txBody>
      </p:sp>
      <p:sp>
        <p:nvSpPr>
          <p:cNvPr id="7" name="Text 5"/>
          <p:cNvSpPr/>
          <p:nvPr/>
        </p:nvSpPr>
        <p:spPr>
          <a:xfrm>
            <a:off x="6311900" y="2103120"/>
            <a:ext cx="52193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Misrouted</a:t>
            </a:r>
            <a:endParaRPr lang="en-US" sz="1600" dirty="0"/>
          </a:p>
        </p:txBody>
      </p:sp>
      <p:sp>
        <p:nvSpPr>
          <p:cNvPr id="8" name="Text 6"/>
          <p:cNvSpPr/>
          <p:nvPr/>
        </p:nvSpPr>
        <p:spPr>
          <a:xfrm>
            <a:off x="6311900" y="2397760"/>
            <a:ext cx="5219319"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"Waterlogging after rain" looks like a Water, Roads or Sewer job. The charter says Sewer.</a:t>
            </a:r>
            <a:endParaRPr lang="en-US" sz="1200" dirty="0"/>
          </a:p>
        </p:txBody>
      </p:sp>
      <p:sp>
        <p:nvSpPr>
          <p:cNvPr id="9" name="Shape 7"/>
          <p:cNvSpPr/>
          <p:nvPr/>
        </p:nvSpPr>
        <p:spPr>
          <a:xfrm>
            <a:off x="5486400" y="3027045"/>
            <a:ext cx="5892800" cy="0"/>
          </a:xfrm>
          <a:prstGeom prst="line">
            <a:avLst/>
          </a:prstGeom>
          <a:noFill/>
          <a:ln w="19050">
            <a:solidFill>
              <a:srgbClr val="0E1A2B"/>
            </a:solidFill>
            <a:prstDash val="solid"/>
          </a:ln>
        </p:spPr>
        <p:txBody>
          <a:bodyPr/>
          <a:lstStyle/>
          <a:p>
            <a:endParaRPr lang="en-IN"/>
          </a:p>
        </p:txBody>
      </p:sp>
      <p:sp>
        <p:nvSpPr>
          <p:cNvPr id="10" name="Text 8"/>
          <p:cNvSpPr/>
          <p:nvPr/>
        </p:nvSpPr>
        <p:spPr>
          <a:xfrm>
            <a:off x="5486400" y="3185160"/>
            <a:ext cx="622300" cy="7620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0639B"/>
                </a:solidFill>
                <a:latin typeface="Arial" pitchFamily="34" charset="0"/>
                <a:ea typeface="Arial" pitchFamily="34" charset="-122"/>
                <a:cs typeface="Arial" pitchFamily="34" charset="-120"/>
              </a:rPr>
              <a:t>02</a:t>
            </a:r>
            <a:endParaRPr lang="en-US" sz="2200" dirty="0"/>
          </a:p>
        </p:txBody>
      </p:sp>
      <p:sp>
        <p:nvSpPr>
          <p:cNvPr id="11" name="Text 9"/>
          <p:cNvSpPr/>
          <p:nvPr/>
        </p:nvSpPr>
        <p:spPr>
          <a:xfrm>
            <a:off x="6311900" y="3185160"/>
            <a:ext cx="52193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Repeated</a:t>
            </a:r>
            <a:endParaRPr lang="en-US" sz="1600" dirty="0"/>
          </a:p>
        </p:txBody>
      </p:sp>
      <p:sp>
        <p:nvSpPr>
          <p:cNvPr id="12" name="Text 10"/>
          <p:cNvSpPr/>
          <p:nvPr/>
        </p:nvSpPr>
        <p:spPr>
          <a:xfrm>
            <a:off x="6311900" y="3479800"/>
            <a:ext cx="5219319"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The same garbage heap is reported again and again, and two crews get sent to one spot.</a:t>
            </a:r>
            <a:endParaRPr lang="en-US" sz="1200" dirty="0"/>
          </a:p>
        </p:txBody>
      </p:sp>
      <p:sp>
        <p:nvSpPr>
          <p:cNvPr id="13" name="Shape 11"/>
          <p:cNvSpPr/>
          <p:nvPr/>
        </p:nvSpPr>
        <p:spPr>
          <a:xfrm>
            <a:off x="5486400" y="4109085"/>
            <a:ext cx="5892800" cy="0"/>
          </a:xfrm>
          <a:prstGeom prst="line">
            <a:avLst/>
          </a:prstGeom>
          <a:noFill/>
          <a:ln w="19050">
            <a:solidFill>
              <a:srgbClr val="0E1A2B"/>
            </a:solidFill>
            <a:prstDash val="solid"/>
          </a:ln>
        </p:spPr>
        <p:txBody>
          <a:bodyPr/>
          <a:lstStyle/>
          <a:p>
            <a:endParaRPr lang="en-IN"/>
          </a:p>
        </p:txBody>
      </p:sp>
      <p:sp>
        <p:nvSpPr>
          <p:cNvPr id="14" name="Shape 12"/>
          <p:cNvSpPr/>
          <p:nvPr/>
        </p:nvSpPr>
        <p:spPr>
          <a:xfrm>
            <a:off x="5486400" y="5187315"/>
            <a:ext cx="5892800" cy="0"/>
          </a:xfrm>
          <a:prstGeom prst="line">
            <a:avLst/>
          </a:prstGeom>
          <a:noFill/>
          <a:ln w="19050">
            <a:solidFill>
              <a:srgbClr val="0E1A2B"/>
            </a:solidFill>
            <a:prstDash val="solid"/>
          </a:ln>
        </p:spPr>
        <p:txBody>
          <a:bodyPr/>
          <a:lstStyle/>
          <a:p>
            <a:endParaRPr lang="en-IN"/>
          </a:p>
        </p:txBody>
      </p:sp>
      <p:sp>
        <p:nvSpPr>
          <p:cNvPr id="15" name="Text 13"/>
          <p:cNvSpPr/>
          <p:nvPr/>
        </p:nvSpPr>
        <p:spPr>
          <a:xfrm>
            <a:off x="5486400" y="4267200"/>
            <a:ext cx="622300" cy="762000"/>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0639B"/>
                </a:solidFill>
                <a:latin typeface="Arial" pitchFamily="34" charset="0"/>
                <a:ea typeface="Arial" pitchFamily="34" charset="-122"/>
                <a:cs typeface="Arial" pitchFamily="34" charset="-120"/>
              </a:rPr>
              <a:t>03</a:t>
            </a:r>
            <a:endParaRPr lang="en-US" sz="2200" dirty="0"/>
          </a:p>
        </p:txBody>
      </p:sp>
      <p:sp>
        <p:nvSpPr>
          <p:cNvPr id="16" name="Text 14"/>
          <p:cNvSpPr/>
          <p:nvPr/>
        </p:nvSpPr>
        <p:spPr>
          <a:xfrm>
            <a:off x="6311900" y="4267200"/>
            <a:ext cx="5219319"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Unaccountable</a:t>
            </a:r>
            <a:endParaRPr lang="en-US" sz="1600" dirty="0"/>
          </a:p>
        </p:txBody>
      </p:sp>
      <p:sp>
        <p:nvSpPr>
          <p:cNvPr id="17" name="Text 15"/>
          <p:cNvSpPr/>
          <p:nvPr/>
        </p:nvSpPr>
        <p:spPr>
          <a:xfrm>
            <a:off x="6311900" y="4561840"/>
            <a:ext cx="5219319"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Deadlines slip with no escalation, and nobody can explain why a decision was made.</a:t>
            </a:r>
            <a:endParaRPr lang="en-US" sz="1200" dirty="0"/>
          </a:p>
        </p:txBody>
      </p:sp>
      <p:sp>
        <p:nvSpPr>
          <p:cNvPr id="18" name="Text 16"/>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19" name="Text 17"/>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639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CFE6F5"/>
                </a:solidFill>
                <a:latin typeface="Courier New" pitchFamily="49" charset="0"/>
                <a:ea typeface="Courier New" pitchFamily="49" charset="-122"/>
                <a:cs typeface="Courier New" pitchFamily="49" charset="-120"/>
              </a:rPr>
              <a:t>03 / WHAT WE BUILT</a:t>
            </a:r>
            <a:endParaRPr lang="en-US" sz="1200" dirty="0"/>
          </a:p>
        </p:txBody>
      </p:sp>
      <p:sp>
        <p:nvSpPr>
          <p:cNvPr id="3" name="Text 1"/>
          <p:cNvSpPr>
            <a:spLocks noGrp="1"/>
          </p:cNvSpPr>
          <p:nvPr>
            <p:ph type="title"/>
          </p:nvPr>
        </p:nvSpPr>
        <p:spPr>
          <a:xfrm>
            <a:off x="812800" y="1178561"/>
            <a:ext cx="9810750" cy="1602740"/>
          </a:xfrm>
          <a:prstGeom prst="rect">
            <a:avLst/>
          </a:prstGeom>
          <a:noFill/>
          <a:ln/>
        </p:spPr>
        <p:txBody>
          <a:bodyPr wrap="square" lIns="0" tIns="0" rIns="0" bIns="0" rtlCol="0" anchor="t">
            <a:normAutofit/>
          </a:bodyPr>
          <a:lstStyle/>
          <a:p>
            <a:pPr marL="0" indent="0" algn="l">
              <a:lnSpc>
                <a:spcPts val="4140"/>
              </a:lnSpc>
              <a:buNone/>
            </a:pPr>
            <a:r>
              <a:rPr lang="en-US" sz="3600" b="0" i="0" dirty="0">
                <a:solidFill>
                  <a:srgbClr val="F4F6F2"/>
                </a:solidFill>
                <a:latin typeface="Arial" pitchFamily="34" charset="0"/>
                <a:ea typeface="Arial" pitchFamily="34" charset="-122"/>
                <a:cs typeface="Arial" pitchFamily="34" charset="-120"/>
              </a:rPr>
              <a:t>A crew of five AI agents that reads every complaint, checks the city's rulebook and acts on it, with a log of why.</a:t>
            </a:r>
            <a:endParaRPr lang="en-US" sz="3600" dirty="0"/>
          </a:p>
        </p:txBody>
      </p:sp>
      <p:sp>
        <p:nvSpPr>
          <p:cNvPr id="4" name="Shape 2"/>
          <p:cNvSpPr/>
          <p:nvPr/>
        </p:nvSpPr>
        <p:spPr>
          <a:xfrm>
            <a:off x="812800" y="4495166"/>
            <a:ext cx="2413000" cy="0"/>
          </a:xfrm>
          <a:prstGeom prst="line">
            <a:avLst/>
          </a:prstGeom>
          <a:noFill/>
          <a:ln w="19050">
            <a:solidFill>
              <a:srgbClr val="CFE6F5"/>
            </a:solidFill>
            <a:prstDash val="solid"/>
          </a:ln>
        </p:spPr>
        <p:txBody>
          <a:bodyPr/>
          <a:lstStyle/>
          <a:p>
            <a:endParaRPr lang="en-IN"/>
          </a:p>
        </p:txBody>
      </p:sp>
      <p:sp>
        <p:nvSpPr>
          <p:cNvPr id="5" name="Text 3"/>
          <p:cNvSpPr/>
          <p:nvPr/>
        </p:nvSpPr>
        <p:spPr>
          <a:xfrm>
            <a:off x="812800" y="4602480"/>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4F6F2"/>
                </a:solidFill>
                <a:latin typeface="Arial" pitchFamily="34" charset="0"/>
                <a:ea typeface="Arial" pitchFamily="34" charset="-122"/>
                <a:cs typeface="Arial" pitchFamily="34" charset="-120"/>
              </a:rPr>
              <a:t>5</a:t>
            </a:r>
            <a:endParaRPr lang="en-US" sz="6000" dirty="0"/>
          </a:p>
        </p:txBody>
      </p:sp>
      <p:sp>
        <p:nvSpPr>
          <p:cNvPr id="6" name="Text 4"/>
          <p:cNvSpPr/>
          <p:nvPr/>
        </p:nvSpPr>
        <p:spPr>
          <a:xfrm>
            <a:off x="812800" y="541528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Arial" pitchFamily="34" charset="0"/>
                <a:ea typeface="Arial" pitchFamily="34" charset="-122"/>
                <a:cs typeface="Arial" pitchFamily="34" charset="-120"/>
              </a:rPr>
              <a:t>agents in one CrewAI Flow</a:t>
            </a:r>
            <a:endParaRPr lang="en-US" sz="1200" dirty="0"/>
          </a:p>
        </p:txBody>
      </p:sp>
      <p:sp>
        <p:nvSpPr>
          <p:cNvPr id="7" name="Shape 5"/>
          <p:cNvSpPr/>
          <p:nvPr/>
        </p:nvSpPr>
        <p:spPr>
          <a:xfrm>
            <a:off x="3530600" y="4495166"/>
            <a:ext cx="2413000" cy="0"/>
          </a:xfrm>
          <a:prstGeom prst="line">
            <a:avLst/>
          </a:prstGeom>
          <a:noFill/>
          <a:ln w="19050">
            <a:solidFill>
              <a:srgbClr val="CFE6F5"/>
            </a:solidFill>
            <a:prstDash val="solid"/>
          </a:ln>
        </p:spPr>
        <p:txBody>
          <a:bodyPr/>
          <a:lstStyle/>
          <a:p>
            <a:endParaRPr lang="en-IN"/>
          </a:p>
        </p:txBody>
      </p:sp>
      <p:sp>
        <p:nvSpPr>
          <p:cNvPr id="8" name="Text 6"/>
          <p:cNvSpPr/>
          <p:nvPr/>
        </p:nvSpPr>
        <p:spPr>
          <a:xfrm>
            <a:off x="3530600" y="4602480"/>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4F6F2"/>
                </a:solidFill>
                <a:latin typeface="Arial" pitchFamily="34" charset="0"/>
                <a:ea typeface="Arial" pitchFamily="34" charset="-122"/>
                <a:cs typeface="Arial" pitchFamily="34" charset="-120"/>
              </a:rPr>
              <a:t>27</a:t>
            </a:r>
            <a:endParaRPr lang="en-US" sz="6000" dirty="0"/>
          </a:p>
        </p:txBody>
      </p:sp>
      <p:sp>
        <p:nvSpPr>
          <p:cNvPr id="9" name="Text 7"/>
          <p:cNvSpPr/>
          <p:nvPr/>
        </p:nvSpPr>
        <p:spPr>
          <a:xfrm>
            <a:off x="3530600" y="5415280"/>
            <a:ext cx="248539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Arial" pitchFamily="34" charset="0"/>
                <a:ea typeface="Arial" pitchFamily="34" charset="-122"/>
                <a:cs typeface="Arial" pitchFamily="34" charset="-120"/>
              </a:rPr>
              <a:t>charter rules, cited in every decision</a:t>
            </a:r>
            <a:endParaRPr lang="en-US" sz="1200" dirty="0"/>
          </a:p>
        </p:txBody>
      </p:sp>
      <p:sp>
        <p:nvSpPr>
          <p:cNvPr id="10" name="Shape 8"/>
          <p:cNvSpPr/>
          <p:nvPr/>
        </p:nvSpPr>
        <p:spPr>
          <a:xfrm>
            <a:off x="6248400" y="4495166"/>
            <a:ext cx="2413000" cy="0"/>
          </a:xfrm>
          <a:prstGeom prst="line">
            <a:avLst/>
          </a:prstGeom>
          <a:noFill/>
          <a:ln w="19050">
            <a:solidFill>
              <a:srgbClr val="CFE6F5"/>
            </a:solidFill>
            <a:prstDash val="solid"/>
          </a:ln>
        </p:spPr>
        <p:txBody>
          <a:bodyPr/>
          <a:lstStyle/>
          <a:p>
            <a:endParaRPr lang="en-IN"/>
          </a:p>
        </p:txBody>
      </p:sp>
      <p:sp>
        <p:nvSpPr>
          <p:cNvPr id="11" name="Text 9"/>
          <p:cNvSpPr/>
          <p:nvPr/>
        </p:nvSpPr>
        <p:spPr>
          <a:xfrm>
            <a:off x="6248400" y="4602480"/>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4F6F2"/>
                </a:solidFill>
                <a:latin typeface="Arial" pitchFamily="34" charset="0"/>
                <a:ea typeface="Arial" pitchFamily="34" charset="-122"/>
                <a:cs typeface="Arial" pitchFamily="34" charset="-120"/>
              </a:rPr>
              <a:t>3</a:t>
            </a:r>
            <a:endParaRPr lang="en-US" sz="6000" dirty="0"/>
          </a:p>
        </p:txBody>
      </p:sp>
      <p:sp>
        <p:nvSpPr>
          <p:cNvPr id="12" name="Text 10"/>
          <p:cNvSpPr/>
          <p:nvPr/>
        </p:nvSpPr>
        <p:spPr>
          <a:xfrm>
            <a:off x="6248400" y="5415280"/>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Arial" pitchFamily="34" charset="0"/>
                <a:ea typeface="Arial" pitchFamily="34" charset="-122"/>
                <a:cs typeface="Arial" pitchFamily="34" charset="-120"/>
              </a:rPr>
              <a:t>languages: English, Hindi, Hinglish</a:t>
            </a:r>
            <a:endParaRPr lang="en-US" sz="1200" dirty="0"/>
          </a:p>
        </p:txBody>
      </p:sp>
      <p:sp>
        <p:nvSpPr>
          <p:cNvPr id="13" name="Shape 11"/>
          <p:cNvSpPr/>
          <p:nvPr/>
        </p:nvSpPr>
        <p:spPr>
          <a:xfrm>
            <a:off x="8966200" y="4495166"/>
            <a:ext cx="2413000" cy="0"/>
          </a:xfrm>
          <a:prstGeom prst="line">
            <a:avLst/>
          </a:prstGeom>
          <a:noFill/>
          <a:ln w="19050">
            <a:solidFill>
              <a:srgbClr val="CFE6F5"/>
            </a:solidFill>
            <a:prstDash val="solid"/>
          </a:ln>
        </p:spPr>
        <p:txBody>
          <a:bodyPr/>
          <a:lstStyle/>
          <a:p>
            <a:endParaRPr lang="en-IN"/>
          </a:p>
        </p:txBody>
      </p:sp>
      <p:sp>
        <p:nvSpPr>
          <p:cNvPr id="14" name="Text 12"/>
          <p:cNvSpPr/>
          <p:nvPr/>
        </p:nvSpPr>
        <p:spPr>
          <a:xfrm>
            <a:off x="8966200" y="4602480"/>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F4F6F2"/>
                </a:solidFill>
                <a:latin typeface="Arial" pitchFamily="34" charset="0"/>
                <a:ea typeface="Arial" pitchFamily="34" charset="-122"/>
                <a:cs typeface="Arial" pitchFamily="34" charset="-120"/>
              </a:rPr>
              <a:t>2</a:t>
            </a:r>
            <a:endParaRPr lang="en-US" sz="6000" dirty="0"/>
          </a:p>
        </p:txBody>
      </p:sp>
      <p:sp>
        <p:nvSpPr>
          <p:cNvPr id="15" name="Text 13"/>
          <p:cNvSpPr/>
          <p:nvPr/>
        </p:nvSpPr>
        <p:spPr>
          <a:xfrm>
            <a:off x="8966200" y="5415280"/>
            <a:ext cx="248539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Arial" pitchFamily="34" charset="0"/>
                <a:ea typeface="Arial" pitchFamily="34" charset="-122"/>
                <a:cs typeface="Arial" pitchFamily="34" charset="-120"/>
              </a:rPr>
              <a:t>dashboards: citizen and department</a:t>
            </a:r>
            <a:endParaRPr lang="en-US" sz="1200" dirty="0"/>
          </a:p>
        </p:txBody>
      </p:sp>
      <p:sp>
        <p:nvSpPr>
          <p:cNvPr id="16" name="Text 14"/>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Arial" pitchFamily="34" charset="0"/>
                <a:ea typeface="Arial" pitchFamily="34" charset="-122"/>
                <a:cs typeface="Arial" pitchFamily="34" charset="-120"/>
              </a:rPr>
              <a:t>Group 8 · Civic Complaint Resolution Crew</a:t>
            </a:r>
            <a:endParaRPr lang="en-US" sz="1200" dirty="0"/>
          </a:p>
        </p:txBody>
      </p:sp>
      <p:sp>
        <p:nvSpPr>
          <p:cNvPr id="17" name="Text 15"/>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FE6F5"/>
                </a:solidFill>
                <a:latin typeface="Courier New" pitchFamily="49" charset="0"/>
                <a:ea typeface="Courier New" pitchFamily="49" charset="-122"/>
                <a:cs typeface="Courier New"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04 / ARCHITECTURE</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SIX PARTS, ONE LOOP</a:t>
            </a:r>
            <a:endParaRPr lang="en-US" sz="3600" dirty="0"/>
          </a:p>
        </p:txBody>
      </p:sp>
      <p:pic>
        <p:nvPicPr>
          <p:cNvPr id="4" name="Image 0" descr="connector"/>
          <p:cNvPicPr>
            <a:picLocks noChangeAspect="1"/>
          </p:cNvPicPr>
          <p:nvPr/>
        </p:nvPicPr>
        <p:blipFill>
          <a:blip r:embed="rId3"/>
          <a:srcRect/>
          <a:stretch/>
        </p:blipFill>
        <p:spPr>
          <a:xfrm>
            <a:off x="3429000" y="2584450"/>
            <a:ext cx="1384300" cy="101600"/>
          </a:xfrm>
          <a:prstGeom prst="rect">
            <a:avLst/>
          </a:prstGeom>
        </p:spPr>
      </p:pic>
      <p:pic>
        <p:nvPicPr>
          <p:cNvPr id="5" name="Image 1" descr="connector"/>
          <p:cNvPicPr>
            <a:picLocks noChangeAspect="1"/>
          </p:cNvPicPr>
          <p:nvPr/>
        </p:nvPicPr>
        <p:blipFill>
          <a:blip r:embed="rId4"/>
          <a:srcRect/>
          <a:stretch/>
        </p:blipFill>
        <p:spPr>
          <a:xfrm>
            <a:off x="7378700" y="2584450"/>
            <a:ext cx="1384300" cy="101600"/>
          </a:xfrm>
          <a:prstGeom prst="rect">
            <a:avLst/>
          </a:prstGeom>
        </p:spPr>
      </p:pic>
      <p:pic>
        <p:nvPicPr>
          <p:cNvPr id="6" name="Image 2" descr="connector"/>
          <p:cNvPicPr>
            <a:picLocks noChangeAspect="1"/>
          </p:cNvPicPr>
          <p:nvPr/>
        </p:nvPicPr>
        <p:blipFill>
          <a:blip r:embed="rId5"/>
          <a:srcRect/>
          <a:stretch/>
        </p:blipFill>
        <p:spPr>
          <a:xfrm>
            <a:off x="6045200" y="3124200"/>
            <a:ext cx="101600" cy="1054100"/>
          </a:xfrm>
          <a:prstGeom prst="rect">
            <a:avLst/>
          </a:prstGeom>
        </p:spPr>
      </p:pic>
      <p:pic>
        <p:nvPicPr>
          <p:cNvPr id="7" name="Image 3" descr="connector"/>
          <p:cNvPicPr>
            <a:picLocks noChangeAspect="1"/>
          </p:cNvPicPr>
          <p:nvPr/>
        </p:nvPicPr>
        <p:blipFill>
          <a:blip r:embed="rId6"/>
          <a:srcRect/>
          <a:stretch/>
        </p:blipFill>
        <p:spPr>
          <a:xfrm>
            <a:off x="7378700" y="3124200"/>
            <a:ext cx="1384300" cy="1054100"/>
          </a:xfrm>
          <a:prstGeom prst="rect">
            <a:avLst/>
          </a:prstGeom>
        </p:spPr>
      </p:pic>
      <p:pic>
        <p:nvPicPr>
          <p:cNvPr id="8" name="Image 4" descr="connector"/>
          <p:cNvPicPr>
            <a:picLocks noChangeAspect="1"/>
          </p:cNvPicPr>
          <p:nvPr/>
        </p:nvPicPr>
        <p:blipFill>
          <a:blip r:embed="rId7"/>
          <a:srcRect/>
          <a:stretch/>
        </p:blipFill>
        <p:spPr>
          <a:xfrm>
            <a:off x="7378700" y="4616450"/>
            <a:ext cx="1384300" cy="101600"/>
          </a:xfrm>
          <a:prstGeom prst="rect">
            <a:avLst/>
          </a:prstGeom>
        </p:spPr>
      </p:pic>
      <p:pic>
        <p:nvPicPr>
          <p:cNvPr id="9" name="Image 5" descr="connector"/>
          <p:cNvPicPr>
            <a:picLocks noChangeAspect="1"/>
          </p:cNvPicPr>
          <p:nvPr/>
        </p:nvPicPr>
        <p:blipFill>
          <a:blip r:embed="rId7"/>
          <a:srcRect/>
          <a:stretch/>
        </p:blipFill>
        <p:spPr>
          <a:xfrm>
            <a:off x="3429000" y="4616450"/>
            <a:ext cx="1384300" cy="101600"/>
          </a:xfrm>
          <a:prstGeom prst="rect">
            <a:avLst/>
          </a:prstGeom>
        </p:spPr>
      </p:pic>
      <p:sp>
        <p:nvSpPr>
          <p:cNvPr id="10" name="Shape 2"/>
          <p:cNvSpPr/>
          <p:nvPr/>
        </p:nvSpPr>
        <p:spPr>
          <a:xfrm>
            <a:off x="819150" y="2101850"/>
            <a:ext cx="2654300" cy="1066800"/>
          </a:xfrm>
          <a:prstGeom prst="roundRect">
            <a:avLst>
              <a:gd name="adj" fmla="val 6548"/>
            </a:avLst>
          </a:prstGeom>
          <a:solidFill>
            <a:srgbClr val="FBFCFA"/>
          </a:solidFill>
          <a:ln w="12700">
            <a:solidFill>
              <a:srgbClr val="9FB3C2"/>
            </a:solidFill>
            <a:prstDash val="solid"/>
          </a:ln>
        </p:spPr>
        <p:txBody>
          <a:bodyPr/>
          <a:lstStyle/>
          <a:p>
            <a:endParaRPr lang="en-IN"/>
          </a:p>
        </p:txBody>
      </p:sp>
      <p:sp>
        <p:nvSpPr>
          <p:cNvPr id="11" name="Text 3"/>
          <p:cNvSpPr/>
          <p:nvPr/>
        </p:nvSpPr>
        <p:spPr>
          <a:xfrm>
            <a:off x="1000760" y="2283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Citizen app</a:t>
            </a:r>
            <a:endParaRPr lang="en-US" sz="1560" dirty="0"/>
          </a:p>
        </p:txBody>
      </p:sp>
      <p:sp>
        <p:nvSpPr>
          <p:cNvPr id="12" name="Text 4"/>
          <p:cNvSpPr/>
          <p:nvPr/>
        </p:nvSpPr>
        <p:spPr>
          <a:xfrm>
            <a:off x="1000760" y="2571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3E4B5C"/>
                </a:solidFill>
                <a:latin typeface="Arial" pitchFamily="34" charset="0"/>
                <a:ea typeface="Arial" pitchFamily="34" charset="-122"/>
                <a:cs typeface="Arial" pitchFamily="34" charset="-120"/>
              </a:rPr>
              <a:t>Streamlit chat to submit and track a complaint</a:t>
            </a:r>
            <a:endParaRPr lang="en-US" sz="1166" dirty="0"/>
          </a:p>
        </p:txBody>
      </p:sp>
      <p:sp>
        <p:nvSpPr>
          <p:cNvPr id="13" name="Shape 5"/>
          <p:cNvSpPr/>
          <p:nvPr/>
        </p:nvSpPr>
        <p:spPr>
          <a:xfrm>
            <a:off x="4768850" y="2101850"/>
            <a:ext cx="2654300" cy="1066800"/>
          </a:xfrm>
          <a:prstGeom prst="roundRect">
            <a:avLst>
              <a:gd name="adj" fmla="val 6548"/>
            </a:avLst>
          </a:prstGeom>
          <a:solidFill>
            <a:srgbClr val="00639B"/>
          </a:solidFill>
          <a:ln w="12700">
            <a:solidFill>
              <a:srgbClr val="00639B"/>
            </a:solidFill>
            <a:prstDash val="solid"/>
          </a:ln>
        </p:spPr>
        <p:txBody>
          <a:bodyPr/>
          <a:lstStyle/>
          <a:p>
            <a:endParaRPr lang="en-IN"/>
          </a:p>
        </p:txBody>
      </p:sp>
      <p:sp>
        <p:nvSpPr>
          <p:cNvPr id="14" name="Text 6"/>
          <p:cNvSpPr/>
          <p:nvPr/>
        </p:nvSpPr>
        <p:spPr>
          <a:xfrm>
            <a:off x="4950460" y="2283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F4F6F2"/>
                </a:solidFill>
                <a:latin typeface="Arial" pitchFamily="34" charset="0"/>
                <a:ea typeface="Arial" pitchFamily="34" charset="-122"/>
                <a:cs typeface="Arial" pitchFamily="34" charset="-120"/>
              </a:rPr>
              <a:t>CrewAI Flow</a:t>
            </a:r>
            <a:endParaRPr lang="en-US" sz="1560" dirty="0"/>
          </a:p>
        </p:txBody>
      </p:sp>
      <p:sp>
        <p:nvSpPr>
          <p:cNvPr id="15" name="Text 7"/>
          <p:cNvSpPr/>
          <p:nvPr/>
        </p:nvSpPr>
        <p:spPr>
          <a:xfrm>
            <a:off x="4950460" y="2571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E3F1FA"/>
                </a:solidFill>
                <a:latin typeface="Arial" pitchFamily="34" charset="0"/>
                <a:ea typeface="Arial" pitchFamily="34" charset="-122"/>
                <a:cs typeface="Arial" pitchFamily="34" charset="-120"/>
              </a:rPr>
              <a:t>5 agents: intake, duplicate, router, reply, SLA</a:t>
            </a:r>
            <a:endParaRPr lang="en-US" sz="1166" dirty="0"/>
          </a:p>
        </p:txBody>
      </p:sp>
      <p:sp>
        <p:nvSpPr>
          <p:cNvPr id="16" name="Shape 8"/>
          <p:cNvSpPr/>
          <p:nvPr/>
        </p:nvSpPr>
        <p:spPr>
          <a:xfrm>
            <a:off x="8718550" y="2101850"/>
            <a:ext cx="2654300" cy="1066800"/>
          </a:xfrm>
          <a:prstGeom prst="roundRect">
            <a:avLst>
              <a:gd name="adj" fmla="val 6548"/>
            </a:avLst>
          </a:prstGeom>
          <a:solidFill>
            <a:srgbClr val="FBFCFA"/>
          </a:solidFill>
          <a:ln w="12700">
            <a:solidFill>
              <a:srgbClr val="9FB3C2"/>
            </a:solidFill>
            <a:prstDash val="solid"/>
          </a:ln>
        </p:spPr>
        <p:txBody>
          <a:bodyPr/>
          <a:lstStyle/>
          <a:p>
            <a:endParaRPr lang="en-IN"/>
          </a:p>
        </p:txBody>
      </p:sp>
      <p:sp>
        <p:nvSpPr>
          <p:cNvPr id="17" name="Text 9"/>
          <p:cNvSpPr/>
          <p:nvPr/>
        </p:nvSpPr>
        <p:spPr>
          <a:xfrm>
            <a:off x="8900160" y="2283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Models and RAG</a:t>
            </a:r>
            <a:endParaRPr lang="en-US" sz="1560" dirty="0"/>
          </a:p>
        </p:txBody>
      </p:sp>
      <p:sp>
        <p:nvSpPr>
          <p:cNvPr id="18" name="Text 10"/>
          <p:cNvSpPr/>
          <p:nvPr/>
        </p:nvSpPr>
        <p:spPr>
          <a:xfrm>
            <a:off x="8900160" y="2571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3E4B5C"/>
                </a:solidFill>
                <a:latin typeface="Arial" pitchFamily="34" charset="0"/>
                <a:ea typeface="Arial" pitchFamily="34" charset="-122"/>
                <a:cs typeface="Arial" pitchFamily="34" charset="-120"/>
              </a:rPr>
              <a:t>Ollama qwen2.5, Gemini, ChromaDB with bge-m3</a:t>
            </a:r>
            <a:endParaRPr lang="en-US" sz="1166" dirty="0"/>
          </a:p>
        </p:txBody>
      </p:sp>
      <p:sp>
        <p:nvSpPr>
          <p:cNvPr id="19" name="Shape 11"/>
          <p:cNvSpPr/>
          <p:nvPr/>
        </p:nvSpPr>
        <p:spPr>
          <a:xfrm>
            <a:off x="819150" y="4133850"/>
            <a:ext cx="2654300" cy="1066800"/>
          </a:xfrm>
          <a:prstGeom prst="roundRect">
            <a:avLst>
              <a:gd name="adj" fmla="val 6548"/>
            </a:avLst>
          </a:prstGeom>
          <a:solidFill>
            <a:srgbClr val="FBFCFA"/>
          </a:solidFill>
          <a:ln w="12700">
            <a:solidFill>
              <a:srgbClr val="9FB3C2"/>
            </a:solidFill>
            <a:prstDash val="solid"/>
          </a:ln>
        </p:spPr>
        <p:txBody>
          <a:bodyPr/>
          <a:lstStyle/>
          <a:p>
            <a:endParaRPr lang="en-IN"/>
          </a:p>
        </p:txBody>
      </p:sp>
      <p:sp>
        <p:nvSpPr>
          <p:cNvPr id="20" name="Text 12"/>
          <p:cNvSpPr/>
          <p:nvPr/>
        </p:nvSpPr>
        <p:spPr>
          <a:xfrm>
            <a:off x="1000760" y="4315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Department app</a:t>
            </a:r>
            <a:endParaRPr lang="en-US" sz="1560" dirty="0"/>
          </a:p>
        </p:txBody>
      </p:sp>
      <p:sp>
        <p:nvSpPr>
          <p:cNvPr id="21" name="Text 13"/>
          <p:cNvSpPr/>
          <p:nvPr/>
        </p:nvSpPr>
        <p:spPr>
          <a:xfrm>
            <a:off x="1000760" y="4603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3E4B5C"/>
                </a:solidFill>
                <a:latin typeface="Arial" pitchFamily="34" charset="0"/>
                <a:ea typeface="Arial" pitchFamily="34" charset="-122"/>
                <a:cs typeface="Arial" pitchFamily="34" charset="-120"/>
              </a:rPr>
              <a:t>Board, audit trail, SLA monitor, evaluation</a:t>
            </a:r>
            <a:endParaRPr lang="en-US" sz="1166" dirty="0"/>
          </a:p>
        </p:txBody>
      </p:sp>
      <p:sp>
        <p:nvSpPr>
          <p:cNvPr id="22" name="Shape 14"/>
          <p:cNvSpPr/>
          <p:nvPr/>
        </p:nvSpPr>
        <p:spPr>
          <a:xfrm>
            <a:off x="4768850" y="4133850"/>
            <a:ext cx="2654300" cy="1066800"/>
          </a:xfrm>
          <a:prstGeom prst="roundRect">
            <a:avLst>
              <a:gd name="adj" fmla="val 6548"/>
            </a:avLst>
          </a:prstGeom>
          <a:solidFill>
            <a:srgbClr val="0E1A2B"/>
          </a:solidFill>
          <a:ln w="12700">
            <a:solidFill>
              <a:srgbClr val="0E1A2B"/>
            </a:solidFill>
            <a:prstDash val="solid"/>
          </a:ln>
        </p:spPr>
        <p:txBody>
          <a:bodyPr/>
          <a:lstStyle/>
          <a:p>
            <a:endParaRPr lang="en-IN"/>
          </a:p>
        </p:txBody>
      </p:sp>
      <p:sp>
        <p:nvSpPr>
          <p:cNvPr id="23" name="Text 15"/>
          <p:cNvSpPr/>
          <p:nvPr/>
        </p:nvSpPr>
        <p:spPr>
          <a:xfrm>
            <a:off x="4950460" y="4315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F4F6F2"/>
                </a:solidFill>
                <a:latin typeface="Arial" pitchFamily="34" charset="0"/>
                <a:ea typeface="Arial" pitchFamily="34" charset="-122"/>
                <a:cs typeface="Arial" pitchFamily="34" charset="-120"/>
              </a:rPr>
              <a:t>PostgreSQL</a:t>
            </a:r>
            <a:endParaRPr lang="en-US" sz="1560" dirty="0"/>
          </a:p>
        </p:txBody>
      </p:sp>
      <p:sp>
        <p:nvSpPr>
          <p:cNvPr id="24" name="Text 16"/>
          <p:cNvSpPr/>
          <p:nvPr/>
        </p:nvSpPr>
        <p:spPr>
          <a:xfrm>
            <a:off x="4950460" y="4603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B9C6D6"/>
                </a:solidFill>
                <a:latin typeface="Arial" pitchFamily="34" charset="0"/>
                <a:ea typeface="Arial" pitchFamily="34" charset="-122"/>
                <a:cs typeface="Arial" pitchFamily="34" charset="-120"/>
              </a:rPr>
              <a:t>Complaints, agent actions, notifications</a:t>
            </a:r>
            <a:endParaRPr lang="en-US" sz="1166" dirty="0"/>
          </a:p>
        </p:txBody>
      </p:sp>
      <p:sp>
        <p:nvSpPr>
          <p:cNvPr id="25" name="Shape 17"/>
          <p:cNvSpPr/>
          <p:nvPr/>
        </p:nvSpPr>
        <p:spPr>
          <a:xfrm>
            <a:off x="8718550" y="4133850"/>
            <a:ext cx="2654300" cy="1066800"/>
          </a:xfrm>
          <a:prstGeom prst="roundRect">
            <a:avLst>
              <a:gd name="adj" fmla="val 6548"/>
            </a:avLst>
          </a:prstGeom>
          <a:solidFill>
            <a:srgbClr val="FBFCFA"/>
          </a:solidFill>
          <a:ln w="12700">
            <a:solidFill>
              <a:srgbClr val="9FB3C2"/>
            </a:solidFill>
            <a:prstDash val="solid"/>
          </a:ln>
        </p:spPr>
        <p:txBody>
          <a:bodyPr/>
          <a:lstStyle/>
          <a:p>
            <a:endParaRPr lang="en-IN"/>
          </a:p>
        </p:txBody>
      </p:sp>
      <p:sp>
        <p:nvSpPr>
          <p:cNvPr id="26" name="Text 18"/>
          <p:cNvSpPr/>
          <p:nvPr/>
        </p:nvSpPr>
        <p:spPr>
          <a:xfrm>
            <a:off x="8900160" y="4315461"/>
            <a:ext cx="2359813" cy="26281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n8n workflow</a:t>
            </a:r>
            <a:endParaRPr lang="en-US" sz="1560" dirty="0"/>
          </a:p>
        </p:txBody>
      </p:sp>
      <p:sp>
        <p:nvSpPr>
          <p:cNvPr id="27" name="Text 19"/>
          <p:cNvSpPr/>
          <p:nvPr/>
        </p:nvSpPr>
        <p:spPr>
          <a:xfrm>
            <a:off x="8900160" y="4603671"/>
            <a:ext cx="2359813" cy="440769"/>
          </a:xfrm>
          <a:prstGeom prst="rect">
            <a:avLst/>
          </a:prstGeom>
          <a:noFill/>
          <a:ln/>
        </p:spPr>
        <p:txBody>
          <a:bodyPr wrap="square" lIns="0" tIns="0" rIns="0" bIns="0" rtlCol="0" anchor="t">
            <a:normAutofit/>
          </a:bodyPr>
          <a:lstStyle/>
          <a:p>
            <a:pPr marL="0" indent="0" algn="l">
              <a:lnSpc>
                <a:spcPts val="1633"/>
              </a:lnSpc>
              <a:buNone/>
            </a:pPr>
            <a:r>
              <a:rPr lang="en-US" sz="1166" dirty="0">
                <a:solidFill>
                  <a:srgbClr val="3E4B5C"/>
                </a:solidFill>
                <a:latin typeface="Arial" pitchFamily="34" charset="0"/>
                <a:ea typeface="Arial" pitchFamily="34" charset="-122"/>
                <a:cs typeface="Arial" pitchFamily="34" charset="-120"/>
              </a:rPr>
              <a:t>Webhook, format, store each message</a:t>
            </a:r>
            <a:endParaRPr lang="en-US" sz="1166" dirty="0"/>
          </a:p>
        </p:txBody>
      </p:sp>
      <p:sp>
        <p:nvSpPr>
          <p:cNvPr id="28" name="Text 20"/>
          <p:cNvSpPr/>
          <p:nvPr/>
        </p:nvSpPr>
        <p:spPr>
          <a:xfrm>
            <a:off x="812800" y="549910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1A2B"/>
                </a:solidFill>
                <a:latin typeface="Arial" pitchFamily="34" charset="0"/>
                <a:ea typeface="Arial" pitchFamily="34" charset="-122"/>
                <a:cs typeface="Arial" pitchFamily="34" charset="-120"/>
              </a:rPr>
              <a:t>The LLM decides. </a:t>
            </a:r>
            <a:r>
              <a:rPr lang="en-US" sz="1600" b="1" dirty="0">
                <a:solidFill>
                  <a:srgbClr val="00639B"/>
                </a:solidFill>
                <a:latin typeface="Arial" pitchFamily="34" charset="0"/>
                <a:ea typeface="Arial" pitchFamily="34" charset="-122"/>
                <a:cs typeface="Arial" pitchFamily="34" charset="-120"/>
              </a:rPr>
              <a:t>Python rules guard.</a:t>
            </a:r>
            <a:r>
              <a:rPr lang="en-US" sz="1600" b="1" dirty="0">
                <a:solidFill>
                  <a:srgbClr val="0E1A2B"/>
                </a:solidFill>
                <a:latin typeface="Arial" pitchFamily="34" charset="0"/>
                <a:ea typeface="Arial" pitchFamily="34" charset="-122"/>
                <a:cs typeface="Arial" pitchFamily="34" charset="-120"/>
              </a:rPr>
              <a:t> n8n delivers.</a:t>
            </a:r>
            <a:endParaRPr lang="en-US" sz="1600" dirty="0"/>
          </a:p>
        </p:txBody>
      </p:sp>
      <p:sp>
        <p:nvSpPr>
          <p:cNvPr id="29" name="Text 21"/>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30" name="Text 2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05 / ONE COMPLAINT'S JOURNEY</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A FLOW WITH A FORK</a:t>
            </a:r>
            <a:endParaRPr lang="en-US" sz="3600" dirty="0"/>
          </a:p>
        </p:txBody>
      </p:sp>
      <p:pic>
        <p:nvPicPr>
          <p:cNvPr id="4" name="Image 0" descr="connector"/>
          <p:cNvPicPr>
            <a:picLocks noChangeAspect="1"/>
          </p:cNvPicPr>
          <p:nvPr/>
        </p:nvPicPr>
        <p:blipFill>
          <a:blip r:embed="rId3"/>
          <a:srcRect/>
          <a:stretch/>
        </p:blipFill>
        <p:spPr>
          <a:xfrm>
            <a:off x="2540000" y="3409950"/>
            <a:ext cx="609600" cy="101600"/>
          </a:xfrm>
          <a:prstGeom prst="rect">
            <a:avLst/>
          </a:prstGeom>
        </p:spPr>
      </p:pic>
      <p:pic>
        <p:nvPicPr>
          <p:cNvPr id="5" name="Image 1" descr="connector"/>
          <p:cNvPicPr>
            <a:picLocks noChangeAspect="1"/>
          </p:cNvPicPr>
          <p:nvPr/>
        </p:nvPicPr>
        <p:blipFill>
          <a:blip r:embed="rId4"/>
          <a:srcRect/>
          <a:stretch/>
        </p:blipFill>
        <p:spPr>
          <a:xfrm>
            <a:off x="4826000" y="2393950"/>
            <a:ext cx="609600" cy="990600"/>
          </a:xfrm>
          <a:prstGeom prst="rect">
            <a:avLst/>
          </a:prstGeom>
        </p:spPr>
      </p:pic>
      <p:pic>
        <p:nvPicPr>
          <p:cNvPr id="6" name="Image 2" descr="connector"/>
          <p:cNvPicPr>
            <a:picLocks noChangeAspect="1"/>
          </p:cNvPicPr>
          <p:nvPr/>
        </p:nvPicPr>
        <p:blipFill>
          <a:blip r:embed="rId5"/>
          <a:srcRect/>
          <a:stretch/>
        </p:blipFill>
        <p:spPr>
          <a:xfrm>
            <a:off x="4826000" y="3536950"/>
            <a:ext cx="609600" cy="990600"/>
          </a:xfrm>
          <a:prstGeom prst="rect">
            <a:avLst/>
          </a:prstGeom>
        </p:spPr>
      </p:pic>
      <p:pic>
        <p:nvPicPr>
          <p:cNvPr id="7" name="Image 3" descr="connector"/>
          <p:cNvPicPr>
            <a:picLocks noChangeAspect="1"/>
          </p:cNvPicPr>
          <p:nvPr/>
        </p:nvPicPr>
        <p:blipFill>
          <a:blip r:embed="rId5"/>
          <a:srcRect/>
          <a:stretch/>
        </p:blipFill>
        <p:spPr>
          <a:xfrm>
            <a:off x="7112000" y="2393950"/>
            <a:ext cx="609600" cy="990600"/>
          </a:xfrm>
          <a:prstGeom prst="rect">
            <a:avLst/>
          </a:prstGeom>
        </p:spPr>
      </p:pic>
      <p:pic>
        <p:nvPicPr>
          <p:cNvPr id="8" name="Image 4" descr="connector"/>
          <p:cNvPicPr>
            <a:picLocks noChangeAspect="1"/>
          </p:cNvPicPr>
          <p:nvPr/>
        </p:nvPicPr>
        <p:blipFill>
          <a:blip r:embed="rId4"/>
          <a:srcRect/>
          <a:stretch/>
        </p:blipFill>
        <p:spPr>
          <a:xfrm>
            <a:off x="7112000" y="3536950"/>
            <a:ext cx="609600" cy="990600"/>
          </a:xfrm>
          <a:prstGeom prst="rect">
            <a:avLst/>
          </a:prstGeom>
        </p:spPr>
      </p:pic>
      <p:pic>
        <p:nvPicPr>
          <p:cNvPr id="9" name="Image 5" descr="connector"/>
          <p:cNvPicPr>
            <a:picLocks noChangeAspect="1"/>
          </p:cNvPicPr>
          <p:nvPr/>
        </p:nvPicPr>
        <p:blipFill>
          <a:blip r:embed="rId3"/>
          <a:srcRect/>
          <a:stretch/>
        </p:blipFill>
        <p:spPr>
          <a:xfrm>
            <a:off x="9398000" y="3409950"/>
            <a:ext cx="609600" cy="101600"/>
          </a:xfrm>
          <a:prstGeom prst="rect">
            <a:avLst/>
          </a:prstGeom>
        </p:spPr>
      </p:pic>
      <p:sp>
        <p:nvSpPr>
          <p:cNvPr id="10" name="Shape 2"/>
          <p:cNvSpPr/>
          <p:nvPr/>
        </p:nvSpPr>
        <p:spPr>
          <a:xfrm>
            <a:off x="819150" y="2800350"/>
            <a:ext cx="1765300" cy="1320800"/>
          </a:xfrm>
          <a:prstGeom prst="roundRect">
            <a:avLst>
              <a:gd name="adj" fmla="val 5288"/>
            </a:avLst>
          </a:prstGeom>
          <a:solidFill>
            <a:srgbClr val="FBFCFA"/>
          </a:solidFill>
          <a:ln w="12700">
            <a:solidFill>
              <a:srgbClr val="0E1A2B"/>
            </a:solidFill>
            <a:prstDash val="solid"/>
          </a:ln>
        </p:spPr>
        <p:txBody>
          <a:bodyPr/>
          <a:lstStyle/>
          <a:p>
            <a:endParaRPr lang="en-IN"/>
          </a:p>
        </p:txBody>
      </p:sp>
      <p:sp>
        <p:nvSpPr>
          <p:cNvPr id="11" name="Text 3"/>
          <p:cNvSpPr/>
          <p:nvPr/>
        </p:nvSpPr>
        <p:spPr>
          <a:xfrm>
            <a:off x="975360" y="2956561"/>
            <a:ext cx="150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AGENT 1</a:t>
            </a:r>
            <a:endParaRPr lang="en-US" sz="1200" dirty="0"/>
          </a:p>
        </p:txBody>
      </p:sp>
      <p:sp>
        <p:nvSpPr>
          <p:cNvPr id="12" name="Text 4"/>
          <p:cNvSpPr/>
          <p:nvPr/>
        </p:nvSpPr>
        <p:spPr>
          <a:xfrm>
            <a:off x="975360" y="3220721"/>
            <a:ext cx="15036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Intake</a:t>
            </a:r>
            <a:endParaRPr lang="en-US" sz="1600" dirty="0"/>
          </a:p>
        </p:txBody>
      </p:sp>
      <p:sp>
        <p:nvSpPr>
          <p:cNvPr id="13" name="Text 5"/>
          <p:cNvSpPr/>
          <p:nvPr/>
        </p:nvSpPr>
        <p:spPr>
          <a:xfrm>
            <a:off x="975360" y="3515361"/>
            <a:ext cx="15036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language, issue, place</a:t>
            </a:r>
            <a:endParaRPr lang="en-US" sz="1200" dirty="0"/>
          </a:p>
        </p:txBody>
      </p:sp>
      <p:sp>
        <p:nvSpPr>
          <p:cNvPr id="14" name="Shape 6"/>
          <p:cNvSpPr/>
          <p:nvPr/>
        </p:nvSpPr>
        <p:spPr>
          <a:xfrm>
            <a:off x="3105150" y="2800350"/>
            <a:ext cx="1765300" cy="1320800"/>
          </a:xfrm>
          <a:prstGeom prst="roundRect">
            <a:avLst>
              <a:gd name="adj" fmla="val 5288"/>
            </a:avLst>
          </a:prstGeom>
          <a:solidFill>
            <a:srgbClr val="FBFCFA"/>
          </a:solidFill>
          <a:ln w="12700">
            <a:solidFill>
              <a:srgbClr val="0E1A2B"/>
            </a:solidFill>
            <a:prstDash val="solid"/>
          </a:ln>
        </p:spPr>
        <p:txBody>
          <a:bodyPr/>
          <a:lstStyle/>
          <a:p>
            <a:endParaRPr lang="en-IN"/>
          </a:p>
        </p:txBody>
      </p:sp>
      <p:sp>
        <p:nvSpPr>
          <p:cNvPr id="15" name="Text 7"/>
          <p:cNvSpPr/>
          <p:nvPr/>
        </p:nvSpPr>
        <p:spPr>
          <a:xfrm>
            <a:off x="3261360" y="2956561"/>
            <a:ext cx="150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AGENT 2</a:t>
            </a:r>
            <a:endParaRPr lang="en-US" sz="1200" dirty="0"/>
          </a:p>
        </p:txBody>
      </p:sp>
      <p:sp>
        <p:nvSpPr>
          <p:cNvPr id="16" name="Text 8"/>
          <p:cNvSpPr/>
          <p:nvPr/>
        </p:nvSpPr>
        <p:spPr>
          <a:xfrm>
            <a:off x="3261360" y="3220721"/>
            <a:ext cx="15036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Duplicate</a:t>
            </a:r>
            <a:endParaRPr lang="en-US" sz="1600" dirty="0"/>
          </a:p>
        </p:txBody>
      </p:sp>
      <p:sp>
        <p:nvSpPr>
          <p:cNvPr id="17" name="Text 9"/>
          <p:cNvSpPr/>
          <p:nvPr/>
        </p:nvSpPr>
        <p:spPr>
          <a:xfrm>
            <a:off x="3261360" y="3515361"/>
            <a:ext cx="15036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same issue open in last 72 h?</a:t>
            </a:r>
            <a:endParaRPr lang="en-US" sz="1200" dirty="0"/>
          </a:p>
        </p:txBody>
      </p:sp>
      <p:sp>
        <p:nvSpPr>
          <p:cNvPr id="18" name="Shape 10"/>
          <p:cNvSpPr/>
          <p:nvPr/>
        </p:nvSpPr>
        <p:spPr>
          <a:xfrm>
            <a:off x="5391150" y="1784350"/>
            <a:ext cx="1765300" cy="1320800"/>
          </a:xfrm>
          <a:prstGeom prst="roundRect">
            <a:avLst>
              <a:gd name="adj" fmla="val 5288"/>
            </a:avLst>
          </a:prstGeom>
          <a:solidFill>
            <a:srgbClr val="FDF0DF"/>
          </a:solidFill>
          <a:ln w="12700">
            <a:solidFill>
              <a:srgbClr val="F29A2E"/>
            </a:solidFill>
            <a:prstDash val="solid"/>
          </a:ln>
        </p:spPr>
        <p:txBody>
          <a:bodyPr/>
          <a:lstStyle/>
          <a:p>
            <a:endParaRPr lang="en-IN"/>
          </a:p>
        </p:txBody>
      </p:sp>
      <p:sp>
        <p:nvSpPr>
          <p:cNvPr id="19" name="Text 11"/>
          <p:cNvSpPr/>
          <p:nvPr/>
        </p:nvSpPr>
        <p:spPr>
          <a:xfrm>
            <a:off x="5547360" y="1940561"/>
            <a:ext cx="150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4B00"/>
                </a:solidFill>
                <a:latin typeface="Courier New" pitchFamily="49" charset="0"/>
                <a:ea typeface="Courier New" pitchFamily="49" charset="-122"/>
                <a:cs typeface="Courier New" pitchFamily="49" charset="-120"/>
              </a:rPr>
              <a:t>IF DUPLICATE</a:t>
            </a:r>
            <a:endParaRPr lang="en-US" sz="1200" dirty="0"/>
          </a:p>
        </p:txBody>
      </p:sp>
      <p:sp>
        <p:nvSpPr>
          <p:cNvPr id="20" name="Text 12"/>
          <p:cNvSpPr/>
          <p:nvPr/>
        </p:nvSpPr>
        <p:spPr>
          <a:xfrm>
            <a:off x="5547360" y="2204721"/>
            <a:ext cx="15036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Merge</a:t>
            </a:r>
            <a:endParaRPr lang="en-US" sz="1600" dirty="0"/>
          </a:p>
        </p:txBody>
      </p:sp>
      <p:sp>
        <p:nvSpPr>
          <p:cNvPr id="21" name="Text 13"/>
          <p:cNvSpPr/>
          <p:nvPr/>
        </p:nvSpPr>
        <p:spPr>
          <a:xfrm>
            <a:off x="5547360" y="2499361"/>
            <a:ext cx="15036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link to oldest open case</a:t>
            </a:r>
            <a:endParaRPr lang="en-US" sz="1200" dirty="0"/>
          </a:p>
        </p:txBody>
      </p:sp>
      <p:sp>
        <p:nvSpPr>
          <p:cNvPr id="22" name="Shape 14"/>
          <p:cNvSpPr/>
          <p:nvPr/>
        </p:nvSpPr>
        <p:spPr>
          <a:xfrm>
            <a:off x="5391150" y="3816350"/>
            <a:ext cx="1765300" cy="1320800"/>
          </a:xfrm>
          <a:prstGeom prst="roundRect">
            <a:avLst>
              <a:gd name="adj" fmla="val 5288"/>
            </a:avLst>
          </a:prstGeom>
          <a:solidFill>
            <a:srgbClr val="FBFCFA"/>
          </a:solidFill>
          <a:ln w="12700">
            <a:solidFill>
              <a:srgbClr val="0E1A2B"/>
            </a:solidFill>
            <a:prstDash val="solid"/>
          </a:ln>
        </p:spPr>
        <p:txBody>
          <a:bodyPr/>
          <a:lstStyle/>
          <a:p>
            <a:endParaRPr lang="en-IN"/>
          </a:p>
        </p:txBody>
      </p:sp>
      <p:sp>
        <p:nvSpPr>
          <p:cNvPr id="23" name="Text 15"/>
          <p:cNvSpPr/>
          <p:nvPr/>
        </p:nvSpPr>
        <p:spPr>
          <a:xfrm>
            <a:off x="5547360" y="3972561"/>
            <a:ext cx="1564640" cy="377984"/>
          </a:xfrm>
          <a:prstGeom prst="rect">
            <a:avLst/>
          </a:prstGeom>
          <a:noFill/>
          <a:ln/>
        </p:spPr>
        <p:txBody>
          <a:bodyPr wrap="square" lIns="0" tIns="0" rIns="0" bIns="0" rtlCol="0" anchor="t">
            <a:normAutofit/>
          </a:bodyPr>
          <a:lstStyle/>
          <a:p>
            <a:pPr marL="0" indent="0" algn="l">
              <a:lnSpc>
                <a:spcPts val="1664"/>
              </a:lnSpc>
              <a:buNone/>
            </a:pPr>
            <a:r>
              <a:rPr lang="en-US" sz="1189" dirty="0">
                <a:solidFill>
                  <a:srgbClr val="00639B"/>
                </a:solidFill>
                <a:latin typeface="Courier New" pitchFamily="49" charset="0"/>
                <a:ea typeface="Courier New" pitchFamily="49" charset="-122"/>
                <a:cs typeface="Courier New" pitchFamily="49" charset="-120"/>
              </a:rPr>
              <a:t>IF NEW · AGENT 3</a:t>
            </a:r>
            <a:endParaRPr lang="en-US" sz="1189" dirty="0"/>
          </a:p>
        </p:txBody>
      </p:sp>
      <p:sp>
        <p:nvSpPr>
          <p:cNvPr id="24" name="Text 16"/>
          <p:cNvSpPr/>
          <p:nvPr/>
        </p:nvSpPr>
        <p:spPr>
          <a:xfrm>
            <a:off x="5547360" y="4375944"/>
            <a:ext cx="1503680" cy="226933"/>
          </a:xfrm>
          <a:prstGeom prst="rect">
            <a:avLst/>
          </a:prstGeom>
          <a:noFill/>
          <a:ln/>
        </p:spPr>
        <p:txBody>
          <a:bodyPr wrap="square" lIns="0" tIns="0" rIns="0" bIns="0" rtlCol="0" anchor="t">
            <a:normAutofit/>
          </a:bodyPr>
          <a:lstStyle/>
          <a:p>
            <a:pPr marL="0" indent="0" algn="l">
              <a:lnSpc>
                <a:spcPts val="1620"/>
              </a:lnSpc>
              <a:buNone/>
            </a:pPr>
            <a:r>
              <a:rPr lang="en-US" sz="1350" b="1" dirty="0">
                <a:solidFill>
                  <a:srgbClr val="0E1A2B"/>
                </a:solidFill>
                <a:latin typeface="Arial" pitchFamily="34" charset="0"/>
                <a:ea typeface="Arial" pitchFamily="34" charset="-122"/>
                <a:cs typeface="Arial" pitchFamily="34" charset="-120"/>
              </a:rPr>
              <a:t>Router</a:t>
            </a:r>
            <a:endParaRPr lang="en-US" sz="1350" dirty="0"/>
          </a:p>
        </p:txBody>
      </p:sp>
      <p:sp>
        <p:nvSpPr>
          <p:cNvPr id="25" name="Text 17"/>
          <p:cNvSpPr/>
          <p:nvPr/>
        </p:nvSpPr>
        <p:spPr>
          <a:xfrm>
            <a:off x="5547360" y="4628279"/>
            <a:ext cx="1602740" cy="378063"/>
          </a:xfrm>
          <a:prstGeom prst="rect">
            <a:avLst/>
          </a:prstGeom>
          <a:noFill/>
          <a:ln/>
        </p:spPr>
        <p:txBody>
          <a:bodyPr wrap="square" lIns="0" tIns="0" rIns="0" bIns="0" rtlCol="0" anchor="t">
            <a:normAutofit/>
          </a:bodyPr>
          <a:lstStyle/>
          <a:p>
            <a:pPr marL="0" indent="0" algn="l">
              <a:lnSpc>
                <a:spcPts val="1643"/>
              </a:lnSpc>
              <a:buNone/>
            </a:pPr>
            <a:r>
              <a:rPr lang="en-US" sz="1174" dirty="0">
                <a:solidFill>
                  <a:srgbClr val="3E4B5C"/>
                </a:solidFill>
                <a:latin typeface="Arial" pitchFamily="34" charset="0"/>
                <a:ea typeface="Arial" pitchFamily="34" charset="-122"/>
                <a:cs typeface="Arial" pitchFamily="34" charset="-120"/>
              </a:rPr>
              <a:t>picks dept and priority</a:t>
            </a:r>
            <a:endParaRPr lang="en-US" sz="1174" dirty="0"/>
          </a:p>
        </p:txBody>
      </p:sp>
      <p:sp>
        <p:nvSpPr>
          <p:cNvPr id="26" name="Shape 18"/>
          <p:cNvSpPr/>
          <p:nvPr/>
        </p:nvSpPr>
        <p:spPr>
          <a:xfrm>
            <a:off x="7677150" y="2800350"/>
            <a:ext cx="1765300" cy="1320800"/>
          </a:xfrm>
          <a:prstGeom prst="roundRect">
            <a:avLst>
              <a:gd name="adj" fmla="val 5288"/>
            </a:avLst>
          </a:prstGeom>
          <a:solidFill>
            <a:srgbClr val="FBFCFA"/>
          </a:solidFill>
          <a:ln w="12700">
            <a:solidFill>
              <a:srgbClr val="0E1A2B"/>
            </a:solidFill>
            <a:prstDash val="solid"/>
          </a:ln>
        </p:spPr>
        <p:txBody>
          <a:bodyPr/>
          <a:lstStyle/>
          <a:p>
            <a:endParaRPr lang="en-IN"/>
          </a:p>
        </p:txBody>
      </p:sp>
      <p:sp>
        <p:nvSpPr>
          <p:cNvPr id="27" name="Text 19"/>
          <p:cNvSpPr/>
          <p:nvPr/>
        </p:nvSpPr>
        <p:spPr>
          <a:xfrm>
            <a:off x="7833360" y="2956561"/>
            <a:ext cx="15036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AGENT 4</a:t>
            </a:r>
            <a:endParaRPr lang="en-US" sz="1200" dirty="0"/>
          </a:p>
        </p:txBody>
      </p:sp>
      <p:sp>
        <p:nvSpPr>
          <p:cNvPr id="28" name="Text 20"/>
          <p:cNvSpPr/>
          <p:nvPr/>
        </p:nvSpPr>
        <p:spPr>
          <a:xfrm>
            <a:off x="7833360" y="3220721"/>
            <a:ext cx="15036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Reply</a:t>
            </a:r>
            <a:endParaRPr lang="en-US" sz="1600" dirty="0"/>
          </a:p>
        </p:txBody>
      </p:sp>
      <p:sp>
        <p:nvSpPr>
          <p:cNvPr id="29" name="Text 21"/>
          <p:cNvSpPr/>
          <p:nvPr/>
        </p:nvSpPr>
        <p:spPr>
          <a:xfrm>
            <a:off x="7833360" y="3515361"/>
            <a:ext cx="150368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in the citizen's language</a:t>
            </a:r>
            <a:endParaRPr lang="en-US" sz="1200" dirty="0"/>
          </a:p>
        </p:txBody>
      </p:sp>
      <p:sp>
        <p:nvSpPr>
          <p:cNvPr id="30" name="Shape 22"/>
          <p:cNvSpPr/>
          <p:nvPr/>
        </p:nvSpPr>
        <p:spPr>
          <a:xfrm>
            <a:off x="9963150" y="2800350"/>
            <a:ext cx="1409700" cy="1320800"/>
          </a:xfrm>
          <a:prstGeom prst="roundRect">
            <a:avLst>
              <a:gd name="adj" fmla="val 5288"/>
            </a:avLst>
          </a:prstGeom>
          <a:solidFill>
            <a:srgbClr val="0E1A2B"/>
          </a:solidFill>
          <a:ln w="12700">
            <a:solidFill>
              <a:srgbClr val="0E1A2B"/>
            </a:solidFill>
            <a:prstDash val="solid"/>
          </a:ln>
        </p:spPr>
        <p:txBody>
          <a:bodyPr/>
          <a:lstStyle/>
          <a:p>
            <a:endParaRPr lang="en-IN"/>
          </a:p>
        </p:txBody>
      </p:sp>
      <p:sp>
        <p:nvSpPr>
          <p:cNvPr id="31" name="Text 23"/>
          <p:cNvSpPr/>
          <p:nvPr/>
        </p:nvSpPr>
        <p:spPr>
          <a:xfrm>
            <a:off x="10119360" y="295656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DELIVERY</a:t>
            </a:r>
            <a:endParaRPr lang="en-US" sz="1200" dirty="0"/>
          </a:p>
        </p:txBody>
      </p:sp>
      <p:sp>
        <p:nvSpPr>
          <p:cNvPr id="32" name="Text 24"/>
          <p:cNvSpPr/>
          <p:nvPr/>
        </p:nvSpPr>
        <p:spPr>
          <a:xfrm>
            <a:off x="10119360" y="3220721"/>
            <a:ext cx="114808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2"/>
                </a:solidFill>
                <a:latin typeface="Arial" pitchFamily="34" charset="0"/>
                <a:ea typeface="Arial" pitchFamily="34" charset="-122"/>
                <a:cs typeface="Arial" pitchFamily="34" charset="-120"/>
              </a:rPr>
              <a:t>n8n</a:t>
            </a:r>
            <a:endParaRPr lang="en-US" sz="1600" dirty="0"/>
          </a:p>
        </p:txBody>
      </p:sp>
      <p:sp>
        <p:nvSpPr>
          <p:cNvPr id="33" name="Text 25"/>
          <p:cNvSpPr/>
          <p:nvPr/>
        </p:nvSpPr>
        <p:spPr>
          <a:xfrm>
            <a:off x="10119360" y="3515361"/>
            <a:ext cx="11480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Arial" pitchFamily="34" charset="0"/>
                <a:ea typeface="Arial" pitchFamily="34" charset="-122"/>
                <a:cs typeface="Arial" pitchFamily="34" charset="-120"/>
              </a:rPr>
              <a:t>sends and logs</a:t>
            </a:r>
            <a:endParaRPr lang="en-US" sz="1200" dirty="0"/>
          </a:p>
        </p:txBody>
      </p:sp>
      <p:sp>
        <p:nvSpPr>
          <p:cNvPr id="34" name="Text 26"/>
          <p:cNvSpPr/>
          <p:nvPr/>
        </p:nvSpPr>
        <p:spPr>
          <a:xfrm>
            <a:off x="812800" y="5397500"/>
            <a:ext cx="10883392"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White boxes are LLM agents; the amber box is a rule step with no LLM. Every step is logged with the rule it used. Agent 5, the SLA monitor, runs on its own schedule.</a:t>
            </a:r>
            <a:endParaRPr lang="en-US" sz="1200" dirty="0"/>
          </a:p>
        </p:txBody>
      </p:sp>
      <p:sp>
        <p:nvSpPr>
          <p:cNvPr id="35" name="Text 27"/>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36" name="Text 28"/>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6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06 / THE FIVE AGENTS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WHO DOES WHAT</a:t>
            </a:r>
            <a:endParaRPr lang="en-US" sz="3600" dirty="0"/>
          </a:p>
        </p:txBody>
      </p:sp>
      <p:sp>
        <p:nvSpPr>
          <p:cNvPr id="4" name="Shape 2"/>
          <p:cNvSpPr/>
          <p:nvPr/>
        </p:nvSpPr>
        <p:spPr>
          <a:xfrm>
            <a:off x="812800" y="1732282"/>
            <a:ext cx="10566400" cy="3317240"/>
          </a:xfrm>
          <a:prstGeom prst="rect">
            <a:avLst/>
          </a:prstGeom>
          <a:solidFill>
            <a:srgbClr val="FBFCFA"/>
          </a:solidFill>
          <a:ln/>
        </p:spPr>
        <p:txBody>
          <a:bodyPr/>
          <a:lstStyle/>
          <a:p>
            <a:endParaRPr lang="en-IN"/>
          </a:p>
        </p:txBody>
      </p:sp>
      <p:sp>
        <p:nvSpPr>
          <p:cNvPr id="5" name="Shape 3"/>
          <p:cNvSpPr/>
          <p:nvPr/>
        </p:nvSpPr>
        <p:spPr>
          <a:xfrm>
            <a:off x="11372850" y="1732282"/>
            <a:ext cx="0" cy="3317240"/>
          </a:xfrm>
          <a:prstGeom prst="line">
            <a:avLst/>
          </a:prstGeom>
          <a:noFill/>
          <a:ln w="12700">
            <a:solidFill>
              <a:srgbClr val="0E1A2B"/>
            </a:solidFill>
            <a:prstDash val="solid"/>
          </a:ln>
        </p:spPr>
        <p:txBody>
          <a:bodyPr/>
          <a:lstStyle/>
          <a:p>
            <a:endParaRPr lang="en-IN"/>
          </a:p>
        </p:txBody>
      </p:sp>
      <p:sp>
        <p:nvSpPr>
          <p:cNvPr id="6" name="Shape 4"/>
          <p:cNvSpPr/>
          <p:nvPr/>
        </p:nvSpPr>
        <p:spPr>
          <a:xfrm>
            <a:off x="812800" y="5043172"/>
            <a:ext cx="10566400" cy="0"/>
          </a:xfrm>
          <a:prstGeom prst="line">
            <a:avLst/>
          </a:prstGeom>
          <a:noFill/>
          <a:ln w="12700">
            <a:solidFill>
              <a:srgbClr val="0E1A2B"/>
            </a:solidFill>
            <a:prstDash val="solid"/>
          </a:ln>
        </p:spPr>
        <p:txBody>
          <a:bodyPr/>
          <a:lstStyle/>
          <a:p>
            <a:endParaRPr lang="en-IN"/>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42442"/>
          <a:ext cx="10546080" cy="3296920"/>
        </p:xfrm>
        <a:graphic>
          <a:graphicData uri="http://schemas.openxmlformats.org/drawingml/2006/table">
            <a:tbl>
              <a:tblPr/>
              <a:tblGrid>
                <a:gridCol w="738226">
                  <a:extLst>
                    <a:ext uri="{9D8B030D-6E8A-4147-A177-3AD203B41FA5}">
                      <a16:colId xmlns:a16="http://schemas.microsoft.com/office/drawing/2014/main" val="20000"/>
                    </a:ext>
                  </a:extLst>
                </a:gridCol>
                <a:gridCol w="2003755">
                  <a:extLst>
                    <a:ext uri="{9D8B030D-6E8A-4147-A177-3AD203B41FA5}">
                      <a16:colId xmlns:a16="http://schemas.microsoft.com/office/drawing/2014/main" val="20001"/>
                    </a:ext>
                  </a:extLst>
                </a:gridCol>
                <a:gridCol w="4851197">
                  <a:extLst>
                    <a:ext uri="{9D8B030D-6E8A-4147-A177-3AD203B41FA5}">
                      <a16:colId xmlns:a16="http://schemas.microsoft.com/office/drawing/2014/main" val="20002"/>
                    </a:ext>
                  </a:extLst>
                </a:gridCol>
                <a:gridCol w="2952902">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4F6F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820"/>
                        </a:lnSpc>
                        <a:buNone/>
                      </a:pPr>
                      <a:r>
                        <a:rPr lang="en-US" sz="1300" b="1" dirty="0">
                          <a:solidFill>
                            <a:srgbClr val="F4F6F2"/>
                          </a:solidFill>
                          <a:latin typeface="Arial" pitchFamily="34" charset="0"/>
                          <a:ea typeface="Arial" pitchFamily="34" charset="-122"/>
                          <a:cs typeface="Arial" pitchFamily="34" charset="-120"/>
                        </a:rPr>
                        <a:t>Agent</a:t>
                      </a:r>
                      <a:endParaRPr lang="en-US" sz="1300" dirty="0">
                        <a:latin typeface="Arial" charset="0"/>
                        <a:ea typeface="Arial" charset="0"/>
                        <a:cs typeface="Arial" charset="0"/>
                      </a:endParaRPr>
                    </a:p>
                  </a:txBody>
                  <a:tcPr marL="57785" marR="57785" marT="57785" marB="57785">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820"/>
                        </a:lnSpc>
                        <a:buNone/>
                      </a:pPr>
                      <a:r>
                        <a:rPr lang="en-US" sz="1300" b="1" dirty="0">
                          <a:solidFill>
                            <a:srgbClr val="F4F6F2"/>
                          </a:solidFill>
                          <a:latin typeface="Arial" pitchFamily="34" charset="0"/>
                          <a:ea typeface="Arial" pitchFamily="34" charset="-122"/>
                          <a:cs typeface="Arial" pitchFamily="34" charset="-120"/>
                        </a:rPr>
                        <a:t>Job</a:t>
                      </a:r>
                      <a:endParaRPr lang="en-US" sz="1300" dirty="0">
                        <a:latin typeface="Arial" charset="0"/>
                        <a:ea typeface="Arial" charset="0"/>
                        <a:cs typeface="Arial" charset="0"/>
                      </a:endParaRPr>
                    </a:p>
                  </a:txBody>
                  <a:tcPr marL="57785" marR="57785" marT="57785" marB="57785">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820"/>
                        </a:lnSpc>
                        <a:buNone/>
                      </a:pPr>
                      <a:r>
                        <a:rPr lang="en-US" sz="1300" b="1" dirty="0">
                          <a:solidFill>
                            <a:srgbClr val="F4F6F2"/>
                          </a:solidFill>
                          <a:latin typeface="Arial" pitchFamily="34" charset="0"/>
                          <a:ea typeface="Arial" pitchFamily="34" charset="-122"/>
                          <a:cs typeface="Arial" pitchFamily="34" charset="-120"/>
                        </a:rPr>
                        <a:t>Tools</a:t>
                      </a:r>
                      <a:endParaRPr lang="en-US" sz="1300" dirty="0">
                        <a:latin typeface="Arial" charset="0"/>
                        <a:ea typeface="Arial" charset="0"/>
                        <a:cs typeface="Arial" charset="0"/>
                      </a:endParaRPr>
                    </a:p>
                  </a:txBody>
                  <a:tcPr marL="57785" marR="57785" marT="57785" marB="57785">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588010">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Intake</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Reads the complaint in any language and extracts issue, locality, landmark and urgency words</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LLM only</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1"/>
                  </a:ext>
                </a:extLst>
              </a:tr>
              <a:tr h="588010">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Duplicate checker</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Finds an open complaint about the same issue at the same spot (CC-5.1)</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ChromaDB vector search, SQL rule check</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2"/>
                  </a:ext>
                </a:extLst>
              </a:tr>
              <a:tr h="588010">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Router</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Picks department and priority, and must cite the charter clauses it used</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Charter RAG over ChromaDB</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3"/>
                  </a:ext>
                </a:extLst>
              </a:tr>
              <a:tr h="588010">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Communication</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Writes the acknowledgement in the citizen's own language (CC-7)</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LLM, n8n webhook</a:t>
                      </a:r>
                      <a:endParaRPr lang="en-US" sz="1300" dirty="0">
                        <a:latin typeface="Arial" charset="0"/>
                        <a:ea typeface="Arial" charset="0"/>
                        <a:cs typeface="Arial" charset="0"/>
                      </a:endParaRPr>
                    </a:p>
                  </a:txBody>
                  <a:tcPr marL="57785" marR="57785" marT="57785" marB="57785">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r h="588010">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5</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SLA monitor</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Escalates breached complaints to level 2 or level 3 officers (CC-6)</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820"/>
                        </a:lnSpc>
                        <a:buNone/>
                      </a:pPr>
                      <a:r>
                        <a:rPr lang="en-US" sz="1300" dirty="0">
                          <a:solidFill>
                            <a:srgbClr val="0E1A2B"/>
                          </a:solidFill>
                          <a:latin typeface="Arial" pitchFamily="34" charset="0"/>
                          <a:ea typeface="Arial" pitchFamily="34" charset="-122"/>
                          <a:cs typeface="Arial" pitchFamily="34" charset="-120"/>
                        </a:rPr>
                        <a:t>SQL deadlines, LLM cover note, n8n</a:t>
                      </a:r>
                      <a:endParaRPr lang="en-US" sz="1300" dirty="0">
                        <a:latin typeface="Arial" charset="0"/>
                        <a:ea typeface="Arial" charset="0"/>
                        <a:cs typeface="Arial" charset="0"/>
                      </a:endParaRPr>
                    </a:p>
                  </a:txBody>
                  <a:tcPr marL="57785" marR="57785" marT="57785" marB="57785">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07 / GUARDRAILS</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THE LLM DECIDES, RULES CHECK</a:t>
            </a:r>
            <a:endParaRPr lang="en-US" sz="3600" dirty="0"/>
          </a:p>
        </p:txBody>
      </p:sp>
      <p:sp>
        <p:nvSpPr>
          <p:cNvPr id="4" name="Shape 2"/>
          <p:cNvSpPr/>
          <p:nvPr/>
        </p:nvSpPr>
        <p:spPr>
          <a:xfrm>
            <a:off x="812800" y="1741807"/>
            <a:ext cx="3522107" cy="0"/>
          </a:xfrm>
          <a:prstGeom prst="line">
            <a:avLst/>
          </a:prstGeom>
          <a:noFill/>
          <a:ln w="19050">
            <a:solidFill>
              <a:srgbClr val="0E1A2B"/>
            </a:solidFill>
            <a:prstDash val="solid"/>
          </a:ln>
        </p:spPr>
        <p:txBody>
          <a:bodyPr/>
          <a:lstStyle/>
          <a:p>
            <a:endParaRPr lang="en-IN"/>
          </a:p>
        </p:txBody>
      </p:sp>
      <p:sp>
        <p:nvSpPr>
          <p:cNvPr id="5" name="Text 3"/>
          <p:cNvSpPr/>
          <p:nvPr/>
        </p:nvSpPr>
        <p:spPr>
          <a:xfrm>
            <a:off x="812800" y="1874521"/>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CC-5.1</a:t>
            </a:r>
            <a:endParaRPr lang="en-US" sz="1200" dirty="0"/>
          </a:p>
        </p:txBody>
      </p:sp>
      <p:sp>
        <p:nvSpPr>
          <p:cNvPr id="6" name="Text 4"/>
          <p:cNvSpPr/>
          <p:nvPr/>
        </p:nvSpPr>
        <p:spPr>
          <a:xfrm>
            <a:off x="812800" y="2138682"/>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Duplicate rule check</a:t>
            </a:r>
            <a:endParaRPr lang="en-US" sz="1600" dirty="0"/>
          </a:p>
        </p:txBody>
      </p:sp>
      <p:sp>
        <p:nvSpPr>
          <p:cNvPr id="7" name="Text 5"/>
          <p:cNvSpPr/>
          <p:nvPr/>
        </p:nvSpPr>
        <p:spPr>
          <a:xfrm>
            <a:off x="812800" y="2433321"/>
            <a:ext cx="3627770" cy="68834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SQL confirms same department, same landmark, open, under 72 hours, and overrides the agent when it disagrees.</a:t>
            </a:r>
            <a:endParaRPr lang="en-US" sz="1200" dirty="0"/>
          </a:p>
        </p:txBody>
      </p:sp>
      <p:sp>
        <p:nvSpPr>
          <p:cNvPr id="8" name="Shape 6"/>
          <p:cNvSpPr/>
          <p:nvPr/>
        </p:nvSpPr>
        <p:spPr>
          <a:xfrm>
            <a:off x="4334907" y="1741807"/>
            <a:ext cx="3522107" cy="0"/>
          </a:xfrm>
          <a:prstGeom prst="line">
            <a:avLst/>
          </a:prstGeom>
          <a:noFill/>
          <a:ln w="19050">
            <a:solidFill>
              <a:srgbClr val="0E1A2B"/>
            </a:solidFill>
            <a:prstDash val="solid"/>
          </a:ln>
        </p:spPr>
        <p:txBody>
          <a:bodyPr/>
          <a:lstStyle/>
          <a:p>
            <a:endParaRPr lang="en-IN"/>
          </a:p>
        </p:txBody>
      </p:sp>
      <p:sp>
        <p:nvSpPr>
          <p:cNvPr id="9" name="Text 7"/>
          <p:cNvSpPr/>
          <p:nvPr/>
        </p:nvSpPr>
        <p:spPr>
          <a:xfrm>
            <a:off x="4334907" y="1874521"/>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CC-3.1</a:t>
            </a:r>
            <a:endParaRPr lang="en-US" sz="1200" dirty="0"/>
          </a:p>
        </p:txBody>
      </p:sp>
      <p:sp>
        <p:nvSpPr>
          <p:cNvPr id="10" name="Text 8"/>
          <p:cNvSpPr/>
          <p:nvPr/>
        </p:nvSpPr>
        <p:spPr>
          <a:xfrm>
            <a:off x="4334907" y="2138682"/>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Safety floor</a:t>
            </a:r>
            <a:endParaRPr lang="en-US" sz="1600" dirty="0"/>
          </a:p>
        </p:txBody>
      </p:sp>
      <p:sp>
        <p:nvSpPr>
          <p:cNvPr id="11" name="Text 9"/>
          <p:cNvSpPr/>
          <p:nvPr/>
        </p:nvSpPr>
        <p:spPr>
          <a:xfrm>
            <a:off x="4334907" y="2433321"/>
            <a:ext cx="362777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Live wires, open manholes, sewage in homes and trees blocking traffic are always critical.</a:t>
            </a:r>
            <a:endParaRPr lang="en-US" sz="1200" dirty="0"/>
          </a:p>
        </p:txBody>
      </p:sp>
      <p:sp>
        <p:nvSpPr>
          <p:cNvPr id="12" name="Shape 10"/>
          <p:cNvSpPr/>
          <p:nvPr/>
        </p:nvSpPr>
        <p:spPr>
          <a:xfrm>
            <a:off x="7857014" y="1741807"/>
            <a:ext cx="3522107" cy="0"/>
          </a:xfrm>
          <a:prstGeom prst="line">
            <a:avLst/>
          </a:prstGeom>
          <a:noFill/>
          <a:ln w="19050">
            <a:solidFill>
              <a:srgbClr val="0E1A2B"/>
            </a:solidFill>
            <a:prstDash val="solid"/>
          </a:ln>
        </p:spPr>
        <p:txBody>
          <a:bodyPr/>
          <a:lstStyle/>
          <a:p>
            <a:endParaRPr lang="en-IN"/>
          </a:p>
        </p:txBody>
      </p:sp>
      <p:sp>
        <p:nvSpPr>
          <p:cNvPr id="13" name="Text 11"/>
          <p:cNvSpPr/>
          <p:nvPr/>
        </p:nvSpPr>
        <p:spPr>
          <a:xfrm>
            <a:off x="7857014" y="1874521"/>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CC-3.3</a:t>
            </a:r>
            <a:endParaRPr lang="en-US" sz="1200" dirty="0"/>
          </a:p>
        </p:txBody>
      </p:sp>
      <p:sp>
        <p:nvSpPr>
          <p:cNvPr id="14" name="Text 12"/>
          <p:cNvSpPr/>
          <p:nvPr/>
        </p:nvSpPr>
        <p:spPr>
          <a:xfrm>
            <a:off x="7857014" y="2138682"/>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No over-escalation</a:t>
            </a:r>
            <a:endParaRPr lang="en-US" sz="1600" dirty="0"/>
          </a:p>
        </p:txBody>
      </p:sp>
      <p:sp>
        <p:nvSpPr>
          <p:cNvPr id="15" name="Text 13"/>
          <p:cNvSpPr/>
          <p:nvPr/>
        </p:nvSpPr>
        <p:spPr>
          <a:xfrm>
            <a:off x="7857014" y="2433321"/>
            <a:ext cx="362777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High or critical with no urgency signal from intake is downgraded to normal.</a:t>
            </a:r>
            <a:endParaRPr lang="en-US" sz="1200" dirty="0"/>
          </a:p>
        </p:txBody>
      </p:sp>
      <p:sp>
        <p:nvSpPr>
          <p:cNvPr id="16" name="Shape 14"/>
          <p:cNvSpPr/>
          <p:nvPr/>
        </p:nvSpPr>
        <p:spPr>
          <a:xfrm>
            <a:off x="812800" y="3105786"/>
            <a:ext cx="3522107" cy="0"/>
          </a:xfrm>
          <a:prstGeom prst="line">
            <a:avLst/>
          </a:prstGeom>
          <a:noFill/>
          <a:ln w="19050">
            <a:solidFill>
              <a:srgbClr val="0E1A2B"/>
            </a:solidFill>
            <a:prstDash val="solid"/>
          </a:ln>
        </p:spPr>
        <p:txBody>
          <a:bodyPr/>
          <a:lstStyle/>
          <a:p>
            <a:endParaRPr lang="en-IN"/>
          </a:p>
        </p:txBody>
      </p:sp>
      <p:sp>
        <p:nvSpPr>
          <p:cNvPr id="17" name="Text 15"/>
          <p:cNvSpPr/>
          <p:nvPr/>
        </p:nvSpPr>
        <p:spPr>
          <a:xfrm>
            <a:off x="812800" y="3238500"/>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CC-7.1 · CC-7.3</a:t>
            </a:r>
            <a:endParaRPr lang="en-US" sz="1200" dirty="0"/>
          </a:p>
        </p:txBody>
      </p:sp>
      <p:sp>
        <p:nvSpPr>
          <p:cNvPr id="18" name="Text 16"/>
          <p:cNvSpPr/>
          <p:nvPr/>
        </p:nvSpPr>
        <p:spPr>
          <a:xfrm>
            <a:off x="812800" y="3502661"/>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Reply checks</a:t>
            </a:r>
            <a:endParaRPr lang="en-US" sz="1600" dirty="0"/>
          </a:p>
        </p:txBody>
      </p:sp>
      <p:sp>
        <p:nvSpPr>
          <p:cNvPr id="19" name="Text 17"/>
          <p:cNvSpPr/>
          <p:nvPr/>
        </p:nvSpPr>
        <p:spPr>
          <a:xfrm>
            <a:off x="812800" y="3797300"/>
            <a:ext cx="362777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The complaint ID must appear, and no promise earlier than the target time.</a:t>
            </a:r>
            <a:endParaRPr lang="en-US" sz="1200" dirty="0"/>
          </a:p>
        </p:txBody>
      </p:sp>
      <p:sp>
        <p:nvSpPr>
          <p:cNvPr id="20" name="Shape 18"/>
          <p:cNvSpPr/>
          <p:nvPr/>
        </p:nvSpPr>
        <p:spPr>
          <a:xfrm>
            <a:off x="4334907" y="3105786"/>
            <a:ext cx="3522107" cy="0"/>
          </a:xfrm>
          <a:prstGeom prst="line">
            <a:avLst/>
          </a:prstGeom>
          <a:noFill/>
          <a:ln w="19050">
            <a:solidFill>
              <a:srgbClr val="0E1A2B"/>
            </a:solidFill>
            <a:prstDash val="solid"/>
          </a:ln>
        </p:spPr>
        <p:txBody>
          <a:bodyPr/>
          <a:lstStyle/>
          <a:p>
            <a:endParaRPr lang="en-IN"/>
          </a:p>
        </p:txBody>
      </p:sp>
      <p:sp>
        <p:nvSpPr>
          <p:cNvPr id="21" name="Text 19"/>
          <p:cNvSpPr/>
          <p:nvPr/>
        </p:nvSpPr>
        <p:spPr>
          <a:xfrm>
            <a:off x="4334907" y="3238500"/>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CC-6.2 · CC-6.3</a:t>
            </a:r>
            <a:endParaRPr lang="en-US" sz="1200" dirty="0"/>
          </a:p>
        </p:txBody>
      </p:sp>
      <p:sp>
        <p:nvSpPr>
          <p:cNvPr id="22" name="Text 20"/>
          <p:cNvSpPr/>
          <p:nvPr/>
        </p:nvSpPr>
        <p:spPr>
          <a:xfrm>
            <a:off x="4334907" y="3502661"/>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Exact escalation lists</a:t>
            </a:r>
            <a:endParaRPr lang="en-US" sz="1600" dirty="0"/>
          </a:p>
        </p:txBody>
      </p:sp>
      <p:sp>
        <p:nvSpPr>
          <p:cNvPr id="23" name="Text 21"/>
          <p:cNvSpPr/>
          <p:nvPr/>
        </p:nvSpPr>
        <p:spPr>
          <a:xfrm>
            <a:off x="4334907" y="3797300"/>
            <a:ext cx="362777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Officer-wise lists are built in Python. The agent only writes the cover note.</a:t>
            </a:r>
            <a:endParaRPr lang="en-US" sz="1200" dirty="0"/>
          </a:p>
        </p:txBody>
      </p:sp>
      <p:sp>
        <p:nvSpPr>
          <p:cNvPr id="24" name="Shape 22"/>
          <p:cNvSpPr/>
          <p:nvPr/>
        </p:nvSpPr>
        <p:spPr>
          <a:xfrm>
            <a:off x="7857014" y="3105786"/>
            <a:ext cx="3522107" cy="0"/>
          </a:xfrm>
          <a:prstGeom prst="line">
            <a:avLst/>
          </a:prstGeom>
          <a:noFill/>
          <a:ln w="19050">
            <a:solidFill>
              <a:srgbClr val="F29A2E"/>
            </a:solidFill>
            <a:prstDash val="solid"/>
          </a:ln>
        </p:spPr>
        <p:txBody>
          <a:bodyPr/>
          <a:lstStyle/>
          <a:p>
            <a:endParaRPr lang="en-IN"/>
          </a:p>
        </p:txBody>
      </p:sp>
      <p:sp>
        <p:nvSpPr>
          <p:cNvPr id="25" name="Text 23"/>
          <p:cNvSpPr/>
          <p:nvPr/>
        </p:nvSpPr>
        <p:spPr>
          <a:xfrm>
            <a:off x="7857014" y="3238500"/>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4B00"/>
                </a:solidFill>
                <a:latin typeface="Courier New" pitchFamily="49" charset="0"/>
                <a:ea typeface="Courier New" pitchFamily="49" charset="-122"/>
                <a:cs typeface="Courier New" pitchFamily="49" charset="-120"/>
              </a:rPr>
              <a:t>AUDIT</a:t>
            </a:r>
            <a:endParaRPr lang="en-US" sz="1200" dirty="0"/>
          </a:p>
        </p:txBody>
      </p:sp>
      <p:sp>
        <p:nvSpPr>
          <p:cNvPr id="26" name="Text 24"/>
          <p:cNvSpPr/>
          <p:nvPr/>
        </p:nvSpPr>
        <p:spPr>
          <a:xfrm>
            <a:off x="7857014" y="3502661"/>
            <a:ext cx="362777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Every override logged</a:t>
            </a:r>
            <a:endParaRPr lang="en-US" sz="1600" dirty="0"/>
          </a:p>
        </p:txBody>
      </p:sp>
      <p:sp>
        <p:nvSpPr>
          <p:cNvPr id="27" name="Text 25"/>
          <p:cNvSpPr/>
          <p:nvPr/>
        </p:nvSpPr>
        <p:spPr>
          <a:xfrm>
            <a:off x="7857014" y="3797300"/>
            <a:ext cx="3627770"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Each correction is saved in agent_actions and flagged with a shield in the audit trail.</a:t>
            </a:r>
            <a:endParaRPr lang="en-US" sz="1200" dirty="0"/>
          </a:p>
        </p:txBody>
      </p:sp>
      <p:sp>
        <p:nvSpPr>
          <p:cNvPr id="28" name="Text 26"/>
          <p:cNvSpPr/>
          <p:nvPr/>
        </p:nvSpPr>
        <p:spPr>
          <a:xfrm>
            <a:off x="812800" y="5334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Arial" pitchFamily="34" charset="0"/>
                <a:ea typeface="Arial" pitchFamily="34" charset="-122"/>
                <a:cs typeface="Arial" pitchFamily="34" charset="-120"/>
              </a:rPr>
              <a:t>In local testing, the small model missed the planted duplicate every time. The rule check caught it every time.</a:t>
            </a:r>
            <a:endParaRPr lang="en-US" sz="1200" dirty="0"/>
          </a:p>
        </p:txBody>
      </p:sp>
      <p:sp>
        <p:nvSpPr>
          <p:cNvPr id="29" name="Text 27"/>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30" name="Text 28"/>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B"/>
        </a:solidFill>
        <a:effectLst/>
      </p:bgPr>
    </p:bg>
    <p:spTree>
      <p:nvGrpSpPr>
        <p:cNvPr id="1" name=""/>
        <p:cNvGrpSpPr/>
        <p:nvPr/>
      </p:nvGrpSpPr>
      <p:grpSpPr>
        <a:xfrm>
          <a:off x="0" y="0"/>
          <a:ext cx="0" cy="0"/>
          <a:chOff x="0" y="0"/>
          <a:chExt cx="0" cy="0"/>
        </a:xfrm>
      </p:grpSpPr>
      <p:sp>
        <p:nvSpPr>
          <p:cNvPr id="2" name="Text 0"/>
          <p:cNvSpPr/>
          <p:nvPr/>
        </p:nvSpPr>
        <p:spPr>
          <a:xfrm>
            <a:off x="812800" y="812800"/>
            <a:ext cx="4447540"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29A2E"/>
                </a:solidFill>
                <a:latin typeface="Courier New" pitchFamily="49" charset="0"/>
                <a:ea typeface="Courier New" pitchFamily="49" charset="-122"/>
                <a:cs typeface="Courier New" pitchFamily="49" charset="-120"/>
              </a:rPr>
              <a:t>08 / WORKED EXAMPLE</a:t>
            </a:r>
            <a:endParaRPr lang="en-US" sz="1200" dirty="0"/>
          </a:p>
        </p:txBody>
      </p:sp>
      <p:sp>
        <p:nvSpPr>
          <p:cNvPr id="3" name="Text 1"/>
          <p:cNvSpPr>
            <a:spLocks noGrp="1"/>
          </p:cNvSpPr>
          <p:nvPr>
            <p:ph type="title"/>
          </p:nvPr>
        </p:nvSpPr>
        <p:spPr>
          <a:xfrm>
            <a:off x="812800" y="1127761"/>
            <a:ext cx="444754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4F6F2"/>
                </a:solidFill>
                <a:latin typeface="Arial" pitchFamily="34" charset="0"/>
                <a:ea typeface="Arial" pitchFamily="34" charset="-122"/>
                <a:cs typeface="Arial" pitchFamily="34" charset="-120"/>
              </a:rPr>
              <a:t>ONE COMPLAINT, START TO FINISH</a:t>
            </a:r>
            <a:endParaRPr lang="en-US" sz="3600" dirty="0"/>
          </a:p>
        </p:txBody>
      </p:sp>
      <p:sp>
        <p:nvSpPr>
          <p:cNvPr id="4" name="Shape 2"/>
          <p:cNvSpPr/>
          <p:nvPr/>
        </p:nvSpPr>
        <p:spPr>
          <a:xfrm>
            <a:off x="831850" y="4310379"/>
            <a:ext cx="0" cy="1531620"/>
          </a:xfrm>
          <a:prstGeom prst="line">
            <a:avLst/>
          </a:prstGeom>
          <a:noFill/>
          <a:ln w="38100">
            <a:solidFill>
              <a:srgbClr val="0093DD"/>
            </a:solidFill>
            <a:prstDash val="solid"/>
          </a:ln>
        </p:spPr>
        <p:txBody>
          <a:bodyPr/>
          <a:lstStyle/>
          <a:p>
            <a:endParaRPr lang="en-IN"/>
          </a:p>
        </p:txBody>
      </p:sp>
      <p:sp>
        <p:nvSpPr>
          <p:cNvPr id="5" name="Text 3"/>
          <p:cNvSpPr/>
          <p:nvPr/>
        </p:nvSpPr>
        <p:spPr>
          <a:xfrm>
            <a:off x="1102360" y="4361179"/>
            <a:ext cx="4149293" cy="111506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4F6F2"/>
                </a:solidFill>
                <a:latin typeface="Arial" pitchFamily="34" charset="0"/>
                <a:ea typeface="Arial" pitchFamily="34" charset="-122"/>
                <a:cs typeface="Arial" pitchFamily="34" charset="-120"/>
              </a:rPr>
              <a:t>"A big tree branch fell on the road near Main Market, DLF Phase 3 and is blocking traffic."</a:t>
            </a:r>
            <a:endParaRPr lang="en-US" sz="2200" dirty="0"/>
          </a:p>
        </p:txBody>
      </p:sp>
      <p:sp>
        <p:nvSpPr>
          <p:cNvPr id="6" name="Text 4"/>
          <p:cNvSpPr/>
          <p:nvPr/>
        </p:nvSpPr>
        <p:spPr>
          <a:xfrm>
            <a:off x="1102360" y="5577842"/>
            <a:ext cx="414929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Courier New" pitchFamily="49" charset="0"/>
                <a:ea typeface="Courier New" pitchFamily="49" charset="-122"/>
                <a:cs typeface="Courier New" pitchFamily="49" charset="-120"/>
              </a:rPr>
              <a:t>GGN-0488 · ENGLISH · LOCAL QWEN2.5 RUN</a:t>
            </a:r>
            <a:endParaRPr lang="en-US" sz="1200" dirty="0"/>
          </a:p>
        </p:txBody>
      </p:sp>
      <p:sp>
        <p:nvSpPr>
          <p:cNvPr id="7" name="Shape 5"/>
          <p:cNvSpPr/>
          <p:nvPr/>
        </p:nvSpPr>
        <p:spPr>
          <a:xfrm>
            <a:off x="5740400" y="1974850"/>
            <a:ext cx="5638800" cy="0"/>
          </a:xfrm>
          <a:prstGeom prst="line">
            <a:avLst/>
          </a:prstGeom>
          <a:noFill/>
          <a:ln w="12700">
            <a:solidFill>
              <a:srgbClr val="3A4A60"/>
            </a:solidFill>
            <a:prstDash val="solid"/>
          </a:ln>
        </p:spPr>
        <p:txBody>
          <a:bodyPr/>
          <a:lstStyle/>
          <a:p>
            <a:endParaRPr lang="en-IN"/>
          </a:p>
        </p:txBody>
      </p:sp>
      <p:sp>
        <p:nvSpPr>
          <p:cNvPr id="8" name="Text 6"/>
          <p:cNvSpPr/>
          <p:nvPr/>
        </p:nvSpPr>
        <p:spPr>
          <a:xfrm>
            <a:off x="5740400" y="2105661"/>
            <a:ext cx="1320800" cy="2565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INTAKE</a:t>
            </a:r>
            <a:endParaRPr lang="en-US" sz="1200" dirty="0"/>
          </a:p>
        </p:txBody>
      </p:sp>
      <p:sp>
        <p:nvSpPr>
          <p:cNvPr id="9" name="Text 7"/>
          <p:cNvSpPr/>
          <p:nvPr/>
        </p:nvSpPr>
        <p:spPr>
          <a:xfrm>
            <a:off x="7213600" y="2105661"/>
            <a:ext cx="42905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6F2"/>
                </a:solidFill>
                <a:latin typeface="Arial" pitchFamily="34" charset="0"/>
                <a:ea typeface="Arial" pitchFamily="34" charset="-122"/>
                <a:cs typeface="Arial" pitchFamily="34" charset="-120"/>
              </a:rPr>
              <a:t>English, fallen tree branch, DLF Phase 3 at Main Market</a:t>
            </a:r>
            <a:endParaRPr lang="en-US" sz="1300" dirty="0"/>
          </a:p>
        </p:txBody>
      </p:sp>
      <p:sp>
        <p:nvSpPr>
          <p:cNvPr id="10" name="Shape 8"/>
          <p:cNvSpPr/>
          <p:nvPr/>
        </p:nvSpPr>
        <p:spPr>
          <a:xfrm>
            <a:off x="5740400" y="2470150"/>
            <a:ext cx="5638800" cy="0"/>
          </a:xfrm>
          <a:prstGeom prst="line">
            <a:avLst/>
          </a:prstGeom>
          <a:noFill/>
          <a:ln w="12700">
            <a:solidFill>
              <a:srgbClr val="3A4A60"/>
            </a:solidFill>
            <a:prstDash val="solid"/>
          </a:ln>
        </p:spPr>
        <p:txBody>
          <a:bodyPr/>
          <a:lstStyle/>
          <a:p>
            <a:endParaRPr lang="en-IN"/>
          </a:p>
        </p:txBody>
      </p:sp>
      <p:sp>
        <p:nvSpPr>
          <p:cNvPr id="11" name="Text 9"/>
          <p:cNvSpPr/>
          <p:nvPr/>
        </p:nvSpPr>
        <p:spPr>
          <a:xfrm>
            <a:off x="5740400" y="2600961"/>
            <a:ext cx="1320800" cy="2565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DUPLICATE</a:t>
            </a:r>
            <a:endParaRPr lang="en-US" sz="1200" dirty="0"/>
          </a:p>
        </p:txBody>
      </p:sp>
      <p:sp>
        <p:nvSpPr>
          <p:cNvPr id="12" name="Text 10"/>
          <p:cNvSpPr/>
          <p:nvPr/>
        </p:nvSpPr>
        <p:spPr>
          <a:xfrm>
            <a:off x="7213600" y="2600961"/>
            <a:ext cx="42905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6F2"/>
                </a:solidFill>
                <a:latin typeface="Arial" pitchFamily="34" charset="0"/>
                <a:ea typeface="Arial" pitchFamily="34" charset="-122"/>
                <a:cs typeface="Arial" pitchFamily="34" charset="-120"/>
              </a:rPr>
              <a:t>No open match within 72 hours, so a new issue </a:t>
            </a:r>
            <a:r>
              <a:rPr lang="en-US" sz="1300" dirty="0">
                <a:solidFill>
                  <a:srgbClr val="8FCBF0"/>
                </a:solidFill>
                <a:latin typeface="Arial" pitchFamily="34" charset="0"/>
                <a:ea typeface="Arial" pitchFamily="34" charset="-122"/>
                <a:cs typeface="Arial" pitchFamily="34" charset="-120"/>
              </a:rPr>
              <a:t>CC-5.1</a:t>
            </a:r>
            <a:endParaRPr lang="en-US" sz="1300" dirty="0"/>
          </a:p>
        </p:txBody>
      </p:sp>
      <p:sp>
        <p:nvSpPr>
          <p:cNvPr id="13" name="Shape 11"/>
          <p:cNvSpPr/>
          <p:nvPr/>
        </p:nvSpPr>
        <p:spPr>
          <a:xfrm>
            <a:off x="5740400" y="2965450"/>
            <a:ext cx="5638800" cy="0"/>
          </a:xfrm>
          <a:prstGeom prst="line">
            <a:avLst/>
          </a:prstGeom>
          <a:noFill/>
          <a:ln w="12700">
            <a:solidFill>
              <a:srgbClr val="3A4A60"/>
            </a:solidFill>
            <a:prstDash val="solid"/>
          </a:ln>
        </p:spPr>
        <p:txBody>
          <a:bodyPr/>
          <a:lstStyle/>
          <a:p>
            <a:endParaRPr lang="en-IN"/>
          </a:p>
        </p:txBody>
      </p:sp>
      <p:sp>
        <p:nvSpPr>
          <p:cNvPr id="14" name="Text 12"/>
          <p:cNvSpPr/>
          <p:nvPr/>
        </p:nvSpPr>
        <p:spPr>
          <a:xfrm>
            <a:off x="5740400" y="3096261"/>
            <a:ext cx="1320800" cy="2565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ROUTER</a:t>
            </a:r>
            <a:endParaRPr lang="en-US" sz="1200" dirty="0"/>
          </a:p>
        </p:txBody>
      </p:sp>
      <p:sp>
        <p:nvSpPr>
          <p:cNvPr id="15" name="Text 13"/>
          <p:cNvSpPr/>
          <p:nvPr/>
        </p:nvSpPr>
        <p:spPr>
          <a:xfrm>
            <a:off x="7213600" y="3096261"/>
            <a:ext cx="42905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6F2"/>
                </a:solidFill>
                <a:latin typeface="Arial" pitchFamily="34" charset="0"/>
                <a:ea typeface="Arial" pitchFamily="34" charset="-122"/>
                <a:cs typeface="Arial" pitchFamily="34" charset="-120"/>
              </a:rPr>
              <a:t>Parks and Trees, critical, 6-hour target </a:t>
            </a:r>
            <a:r>
              <a:rPr lang="en-US" sz="1300" dirty="0">
                <a:solidFill>
                  <a:srgbClr val="8FCBF0"/>
                </a:solidFill>
                <a:latin typeface="Arial" pitchFamily="34" charset="0"/>
                <a:ea typeface="Arial" pitchFamily="34" charset="-122"/>
                <a:cs typeface="Arial" pitchFamily="34" charset="-120"/>
              </a:rPr>
              <a:t>CC-2.3 · CC-3.1</a:t>
            </a:r>
            <a:endParaRPr lang="en-US" sz="1300" dirty="0"/>
          </a:p>
        </p:txBody>
      </p:sp>
      <p:sp>
        <p:nvSpPr>
          <p:cNvPr id="16" name="Shape 14"/>
          <p:cNvSpPr/>
          <p:nvPr/>
        </p:nvSpPr>
        <p:spPr>
          <a:xfrm>
            <a:off x="5740400" y="3460750"/>
            <a:ext cx="5638800" cy="0"/>
          </a:xfrm>
          <a:prstGeom prst="line">
            <a:avLst/>
          </a:prstGeom>
          <a:noFill/>
          <a:ln w="12700">
            <a:solidFill>
              <a:srgbClr val="3A4A60"/>
            </a:solidFill>
            <a:prstDash val="solid"/>
          </a:ln>
        </p:spPr>
        <p:txBody>
          <a:bodyPr/>
          <a:lstStyle/>
          <a:p>
            <a:endParaRPr lang="en-IN"/>
          </a:p>
        </p:txBody>
      </p:sp>
      <p:sp>
        <p:nvSpPr>
          <p:cNvPr id="17" name="Text 15"/>
          <p:cNvSpPr/>
          <p:nvPr/>
        </p:nvSpPr>
        <p:spPr>
          <a:xfrm>
            <a:off x="5740400" y="3591561"/>
            <a:ext cx="1320800" cy="2565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ESCALATION</a:t>
            </a:r>
            <a:endParaRPr lang="en-US" sz="1200" dirty="0"/>
          </a:p>
        </p:txBody>
      </p:sp>
      <p:sp>
        <p:nvSpPr>
          <p:cNvPr id="18" name="Text 16"/>
          <p:cNvSpPr/>
          <p:nvPr/>
        </p:nvSpPr>
        <p:spPr>
          <a:xfrm>
            <a:off x="7213600" y="3591561"/>
            <a:ext cx="429056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4F6F2"/>
                </a:solidFill>
                <a:latin typeface="Arial" pitchFamily="34" charset="0"/>
                <a:ea typeface="Arial" pitchFamily="34" charset="-122"/>
                <a:cs typeface="Arial" pitchFamily="34" charset="-120"/>
              </a:rPr>
              <a:t>Copied to Executive Engineer at assignment </a:t>
            </a:r>
            <a:r>
              <a:rPr lang="en-US" sz="1300" dirty="0">
                <a:solidFill>
                  <a:srgbClr val="8FCBF0"/>
                </a:solidFill>
                <a:latin typeface="Arial" pitchFamily="34" charset="0"/>
                <a:ea typeface="Arial" pitchFamily="34" charset="-122"/>
                <a:cs typeface="Arial" pitchFamily="34" charset="-120"/>
              </a:rPr>
              <a:t>CC-6.4</a:t>
            </a:r>
            <a:endParaRPr lang="en-US" sz="1300" dirty="0"/>
          </a:p>
        </p:txBody>
      </p:sp>
      <p:sp>
        <p:nvSpPr>
          <p:cNvPr id="19" name="Shape 17"/>
          <p:cNvSpPr/>
          <p:nvPr/>
        </p:nvSpPr>
        <p:spPr>
          <a:xfrm>
            <a:off x="5740400" y="3956050"/>
            <a:ext cx="5638800" cy="0"/>
          </a:xfrm>
          <a:prstGeom prst="line">
            <a:avLst/>
          </a:prstGeom>
          <a:noFill/>
          <a:ln w="12700">
            <a:solidFill>
              <a:srgbClr val="3A4A60"/>
            </a:solidFill>
            <a:prstDash val="solid"/>
          </a:ln>
        </p:spPr>
        <p:txBody>
          <a:bodyPr/>
          <a:lstStyle/>
          <a:p>
            <a:endParaRPr lang="en-IN"/>
          </a:p>
        </p:txBody>
      </p:sp>
      <p:sp>
        <p:nvSpPr>
          <p:cNvPr id="20" name="Shape 18"/>
          <p:cNvSpPr/>
          <p:nvPr/>
        </p:nvSpPr>
        <p:spPr>
          <a:xfrm>
            <a:off x="5740400" y="4679950"/>
            <a:ext cx="5638800" cy="0"/>
          </a:xfrm>
          <a:prstGeom prst="line">
            <a:avLst/>
          </a:prstGeom>
          <a:noFill/>
          <a:ln w="12700">
            <a:solidFill>
              <a:srgbClr val="3A4A60"/>
            </a:solidFill>
            <a:prstDash val="solid"/>
          </a:ln>
        </p:spPr>
        <p:txBody>
          <a:bodyPr/>
          <a:lstStyle/>
          <a:p>
            <a:endParaRPr lang="en-IN"/>
          </a:p>
        </p:txBody>
      </p:sp>
      <p:sp>
        <p:nvSpPr>
          <p:cNvPr id="21" name="Text 19"/>
          <p:cNvSpPr/>
          <p:nvPr/>
        </p:nvSpPr>
        <p:spPr>
          <a:xfrm>
            <a:off x="5740400" y="4086864"/>
            <a:ext cx="1320800" cy="4876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9A2E"/>
                </a:solidFill>
                <a:latin typeface="Courier New" pitchFamily="49" charset="0"/>
                <a:ea typeface="Courier New" pitchFamily="49" charset="-122"/>
                <a:cs typeface="Courier New" pitchFamily="49" charset="-120"/>
              </a:rPr>
              <a:t>REPLY</a:t>
            </a:r>
            <a:endParaRPr lang="en-US" sz="1200" dirty="0"/>
          </a:p>
        </p:txBody>
      </p:sp>
      <p:sp>
        <p:nvSpPr>
          <p:cNvPr id="22" name="Text 20"/>
          <p:cNvSpPr/>
          <p:nvPr/>
        </p:nvSpPr>
        <p:spPr>
          <a:xfrm>
            <a:off x="7213600" y="4086864"/>
            <a:ext cx="4290568" cy="487680"/>
          </a:xfrm>
          <a:prstGeom prst="rect">
            <a:avLst/>
          </a:prstGeom>
          <a:noFill/>
          <a:ln/>
        </p:spPr>
        <p:txBody>
          <a:bodyPr wrap="square" lIns="0" tIns="0" rIns="0" bIns="0" rtlCol="0" anchor="t">
            <a:normAutofit/>
          </a:bodyPr>
          <a:lstStyle/>
          <a:p>
            <a:pPr marL="0" indent="0" algn="l">
              <a:lnSpc>
                <a:spcPts val="1820"/>
              </a:lnSpc>
              <a:buNone/>
            </a:pPr>
            <a:r>
              <a:rPr lang="en-US" sz="1300" i="1" dirty="0">
                <a:solidFill>
                  <a:srgbClr val="F4F6F2"/>
                </a:solidFill>
                <a:latin typeface="Arial" pitchFamily="34" charset="0"/>
                <a:ea typeface="Arial" pitchFamily="34" charset="-122"/>
                <a:cs typeface="Arial" pitchFamily="34" charset="-120"/>
              </a:rPr>
              <a:t>"Complaint ID GGN-0488, department Parks and Trees ... Will get it cleared by 06 Oct 2026, 06:11 PM."</a:t>
            </a:r>
            <a:endParaRPr lang="en-US" sz="1300" dirty="0"/>
          </a:p>
        </p:txBody>
      </p:sp>
      <p:sp>
        <p:nvSpPr>
          <p:cNvPr id="23" name="Text 2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6D6"/>
                </a:solidFill>
                <a:latin typeface="Arial" pitchFamily="34" charset="0"/>
                <a:ea typeface="Arial" pitchFamily="34" charset="-122"/>
                <a:cs typeface="Arial" pitchFamily="34" charset="-120"/>
              </a:rPr>
              <a:t>Group 8 · Civic Complaint Resolution Crew</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6D6"/>
                </a:solidFill>
                <a:latin typeface="Courier New" pitchFamily="49" charset="0"/>
                <a:ea typeface="Courier New" pitchFamily="49" charset="-122"/>
                <a:cs typeface="Courier New"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09 / SLA MONITOR</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LATE COMPLAINTS CLIMB THE LADDER</a:t>
            </a:r>
            <a:endParaRPr lang="en-US" sz="3600" dirty="0"/>
          </a:p>
        </p:txBody>
      </p:sp>
      <p:sp>
        <p:nvSpPr>
          <p:cNvPr id="4" name="Shape 2"/>
          <p:cNvSpPr/>
          <p:nvPr/>
        </p:nvSpPr>
        <p:spPr>
          <a:xfrm>
            <a:off x="812800" y="1732279"/>
            <a:ext cx="3522107" cy="792480"/>
          </a:xfrm>
          <a:prstGeom prst="rect">
            <a:avLst/>
          </a:prstGeom>
          <a:solidFill>
            <a:srgbClr val="D6E8F4"/>
          </a:solidFill>
          <a:ln/>
        </p:spPr>
        <p:txBody>
          <a:bodyPr/>
          <a:lstStyle/>
          <a:p>
            <a:endParaRPr lang="en-IN"/>
          </a:p>
        </p:txBody>
      </p:sp>
      <p:sp>
        <p:nvSpPr>
          <p:cNvPr id="5" name="Text 3"/>
          <p:cNvSpPr/>
          <p:nvPr/>
        </p:nvSpPr>
        <p:spPr>
          <a:xfrm>
            <a:off x="965200" y="1884679"/>
            <a:ext cx="331382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B"/>
                </a:solidFill>
                <a:latin typeface="Arial" pitchFamily="34" charset="0"/>
                <a:ea typeface="Arial" pitchFamily="34" charset="-122"/>
                <a:cs typeface="Arial" pitchFamily="34" charset="-120"/>
              </a:rPr>
              <a:t>Level 1</a:t>
            </a:r>
            <a:endParaRPr lang="en-US" sz="1400" dirty="0"/>
          </a:p>
        </p:txBody>
      </p:sp>
      <p:sp>
        <p:nvSpPr>
          <p:cNvPr id="6" name="Text 4"/>
          <p:cNvSpPr/>
          <p:nvPr/>
        </p:nvSpPr>
        <p:spPr>
          <a:xfrm>
            <a:off x="965200" y="2159000"/>
            <a:ext cx="3313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1A2B"/>
                </a:solidFill>
                <a:latin typeface="Arial" pitchFamily="34" charset="0"/>
                <a:ea typeface="Arial" pitchFamily="34" charset="-122"/>
                <a:cs typeface="Arial" pitchFamily="34" charset="-120"/>
              </a:rPr>
              <a:t>Junior Engineer owns it</a:t>
            </a:r>
            <a:endParaRPr lang="en-US" sz="1200" dirty="0"/>
          </a:p>
        </p:txBody>
      </p:sp>
      <p:sp>
        <p:nvSpPr>
          <p:cNvPr id="7" name="Shape 5"/>
          <p:cNvSpPr/>
          <p:nvPr/>
        </p:nvSpPr>
        <p:spPr>
          <a:xfrm>
            <a:off x="4334907" y="1732279"/>
            <a:ext cx="3522186" cy="792480"/>
          </a:xfrm>
          <a:prstGeom prst="rect">
            <a:avLst/>
          </a:prstGeom>
          <a:solidFill>
            <a:srgbClr val="FBD9AE"/>
          </a:solidFill>
          <a:ln/>
        </p:spPr>
        <p:txBody>
          <a:bodyPr/>
          <a:lstStyle/>
          <a:p>
            <a:endParaRPr lang="en-IN"/>
          </a:p>
        </p:txBody>
      </p:sp>
      <p:sp>
        <p:nvSpPr>
          <p:cNvPr id="8" name="Text 6"/>
          <p:cNvSpPr/>
          <p:nvPr/>
        </p:nvSpPr>
        <p:spPr>
          <a:xfrm>
            <a:off x="4487307" y="1884679"/>
            <a:ext cx="3313908"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B"/>
                </a:solidFill>
                <a:latin typeface="Arial" pitchFamily="34" charset="0"/>
                <a:ea typeface="Arial" pitchFamily="34" charset="-122"/>
                <a:cs typeface="Arial" pitchFamily="34" charset="-120"/>
              </a:rPr>
              <a:t>Level 2 · CC-6.2</a:t>
            </a:r>
            <a:endParaRPr lang="en-US" sz="1400" dirty="0"/>
          </a:p>
        </p:txBody>
      </p:sp>
      <p:sp>
        <p:nvSpPr>
          <p:cNvPr id="9" name="Text 7"/>
          <p:cNvSpPr/>
          <p:nvPr/>
        </p:nvSpPr>
        <p:spPr>
          <a:xfrm>
            <a:off x="4487307" y="2159000"/>
            <a:ext cx="331390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1A2B"/>
                </a:solidFill>
                <a:latin typeface="Arial" pitchFamily="34" charset="0"/>
                <a:ea typeface="Arial" pitchFamily="34" charset="-122"/>
                <a:cs typeface="Arial" pitchFamily="34" charset="-120"/>
              </a:rPr>
              <a:t>Executive Engineer alerted</a:t>
            </a:r>
            <a:endParaRPr lang="en-US" sz="1200" dirty="0"/>
          </a:p>
        </p:txBody>
      </p:sp>
      <p:sp>
        <p:nvSpPr>
          <p:cNvPr id="10" name="Shape 8"/>
          <p:cNvSpPr/>
          <p:nvPr/>
        </p:nvSpPr>
        <p:spPr>
          <a:xfrm>
            <a:off x="7857093" y="1732279"/>
            <a:ext cx="3522107" cy="792480"/>
          </a:xfrm>
          <a:prstGeom prst="rect">
            <a:avLst/>
          </a:prstGeom>
          <a:solidFill>
            <a:srgbClr val="0E1A2B"/>
          </a:solidFill>
          <a:ln/>
        </p:spPr>
        <p:txBody>
          <a:bodyPr/>
          <a:lstStyle/>
          <a:p>
            <a:endParaRPr lang="en-IN"/>
          </a:p>
        </p:txBody>
      </p:sp>
      <p:sp>
        <p:nvSpPr>
          <p:cNvPr id="11" name="Text 9"/>
          <p:cNvSpPr/>
          <p:nvPr/>
        </p:nvSpPr>
        <p:spPr>
          <a:xfrm>
            <a:off x="8009493" y="1884679"/>
            <a:ext cx="3313826"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4F6F2"/>
                </a:solidFill>
                <a:latin typeface="Arial" pitchFamily="34" charset="0"/>
                <a:ea typeface="Arial" pitchFamily="34" charset="-122"/>
                <a:cs typeface="Arial" pitchFamily="34" charset="-120"/>
              </a:rPr>
              <a:t>Level 3 · CC-6.3</a:t>
            </a:r>
            <a:endParaRPr lang="en-US" sz="1400" dirty="0"/>
          </a:p>
        </p:txBody>
      </p:sp>
      <p:sp>
        <p:nvSpPr>
          <p:cNvPr id="12" name="Text 10"/>
          <p:cNvSpPr/>
          <p:nvPr/>
        </p:nvSpPr>
        <p:spPr>
          <a:xfrm>
            <a:off x="8009493" y="2159000"/>
            <a:ext cx="331382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4F6F2"/>
                </a:solidFill>
                <a:latin typeface="Arial" pitchFamily="34" charset="0"/>
                <a:ea typeface="Arial" pitchFamily="34" charset="-122"/>
                <a:cs typeface="Arial" pitchFamily="34" charset="-120"/>
              </a:rPr>
              <a:t>Joint Commissioner alerted</a:t>
            </a:r>
            <a:endParaRPr lang="en-US" sz="1200" dirty="0"/>
          </a:p>
        </p:txBody>
      </p:sp>
      <p:sp>
        <p:nvSpPr>
          <p:cNvPr id="13" name="Text 11"/>
          <p:cNvSpPr/>
          <p:nvPr/>
        </p:nvSpPr>
        <p:spPr>
          <a:xfrm>
            <a:off x="812800" y="2626364"/>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Courier New" pitchFamily="49" charset="0"/>
                <a:ea typeface="Courier New" pitchFamily="49" charset="-122"/>
                <a:cs typeface="Courier New" pitchFamily="49" charset="-120"/>
              </a:rPr>
              <a:t>0 h: logged</a:t>
            </a:r>
            <a:endParaRPr lang="en-US" sz="1200" dirty="0"/>
          </a:p>
        </p:txBody>
      </p:sp>
      <p:sp>
        <p:nvSpPr>
          <p:cNvPr id="14" name="Text 12"/>
          <p:cNvSpPr/>
          <p:nvPr/>
        </p:nvSpPr>
        <p:spPr>
          <a:xfrm>
            <a:off x="4334907" y="2626364"/>
            <a:ext cx="362785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Courier New" pitchFamily="49" charset="0"/>
                <a:ea typeface="Courier New" pitchFamily="49" charset="-122"/>
                <a:cs typeface="Courier New" pitchFamily="49" charset="-120"/>
              </a:rPr>
              <a:t>target breached</a:t>
            </a:r>
            <a:endParaRPr lang="en-US" sz="1200" dirty="0"/>
          </a:p>
        </p:txBody>
      </p:sp>
      <p:sp>
        <p:nvSpPr>
          <p:cNvPr id="15" name="Text 13"/>
          <p:cNvSpPr/>
          <p:nvPr/>
        </p:nvSpPr>
        <p:spPr>
          <a:xfrm>
            <a:off x="7857093" y="2626364"/>
            <a:ext cx="36277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Courier New" pitchFamily="49" charset="0"/>
                <a:ea typeface="Courier New" pitchFamily="49" charset="-122"/>
                <a:cs typeface="Courier New" pitchFamily="49" charset="-120"/>
              </a:rPr>
              <a:t>over 2 x target</a:t>
            </a:r>
            <a:endParaRPr lang="en-US" sz="1200" dirty="0"/>
          </a:p>
        </p:txBody>
      </p:sp>
      <p:sp>
        <p:nvSpPr>
          <p:cNvPr id="16" name="Shape 14"/>
          <p:cNvSpPr/>
          <p:nvPr/>
        </p:nvSpPr>
        <p:spPr>
          <a:xfrm>
            <a:off x="812800" y="2941321"/>
            <a:ext cx="4826000" cy="2331720"/>
          </a:xfrm>
          <a:prstGeom prst="rect">
            <a:avLst/>
          </a:prstGeom>
          <a:solidFill>
            <a:srgbClr val="FBFCFA"/>
          </a:solidFill>
          <a:ln/>
        </p:spPr>
        <p:txBody>
          <a:bodyPr/>
          <a:lstStyle/>
          <a:p>
            <a:endParaRPr lang="en-IN"/>
          </a:p>
        </p:txBody>
      </p:sp>
      <p:sp>
        <p:nvSpPr>
          <p:cNvPr id="17" name="Shape 15"/>
          <p:cNvSpPr/>
          <p:nvPr/>
        </p:nvSpPr>
        <p:spPr>
          <a:xfrm>
            <a:off x="5632450" y="2941321"/>
            <a:ext cx="0" cy="2331720"/>
          </a:xfrm>
          <a:prstGeom prst="line">
            <a:avLst/>
          </a:prstGeom>
          <a:noFill/>
          <a:ln w="12700">
            <a:solidFill>
              <a:srgbClr val="0E1A2B"/>
            </a:solidFill>
            <a:prstDash val="solid"/>
          </a:ln>
        </p:spPr>
        <p:txBody>
          <a:bodyPr/>
          <a:lstStyle/>
          <a:p>
            <a:endParaRPr lang="en-IN"/>
          </a:p>
        </p:txBody>
      </p:sp>
      <p:sp>
        <p:nvSpPr>
          <p:cNvPr id="18" name="Shape 16"/>
          <p:cNvSpPr/>
          <p:nvPr/>
        </p:nvSpPr>
        <p:spPr>
          <a:xfrm>
            <a:off x="812800" y="5266691"/>
            <a:ext cx="4826000" cy="0"/>
          </a:xfrm>
          <a:prstGeom prst="line">
            <a:avLst/>
          </a:prstGeom>
          <a:noFill/>
          <a:ln w="12700">
            <a:solidFill>
              <a:srgbClr val="0E1A2B"/>
            </a:solidFill>
            <a:prstDash val="solid"/>
          </a:ln>
        </p:spPr>
        <p:txBody>
          <a:bodyPr/>
          <a:lstStyle/>
          <a:p>
            <a:endParaRPr lang="en-IN"/>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2951481"/>
          <a:ext cx="4805680" cy="2311400"/>
        </p:xfrm>
        <a:graphic>
          <a:graphicData uri="http://schemas.openxmlformats.org/drawingml/2006/table">
            <a:tbl>
              <a:tblPr/>
              <a:tblGrid>
                <a:gridCol w="3123692">
                  <a:extLst>
                    <a:ext uri="{9D8B030D-6E8A-4147-A177-3AD203B41FA5}">
                      <a16:colId xmlns:a16="http://schemas.microsoft.com/office/drawing/2014/main" val="20000"/>
                    </a:ext>
                  </a:extLst>
                </a:gridCol>
                <a:gridCol w="1681988">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Department</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gn="r">
                        <a:lnSpc>
                          <a:spcPts val="1680"/>
                        </a:lnSpc>
                        <a:buNone/>
                      </a:pPr>
                      <a:r>
                        <a:rPr lang="en-US" sz="1200" b="1" dirty="0">
                          <a:solidFill>
                            <a:srgbClr val="F4F6F2"/>
                          </a:solidFill>
                          <a:latin typeface="Arial" pitchFamily="34" charset="0"/>
                          <a:ea typeface="Arial" pitchFamily="34" charset="-122"/>
                          <a:cs typeface="Arial" pitchFamily="34" charset="-120"/>
                        </a:rPr>
                        <a:t>Normal target</a:t>
                      </a:r>
                      <a:endParaRPr lang="en-US" sz="1200" dirty="0">
                        <a:latin typeface="Arial" charset="0"/>
                        <a:ea typeface="Arial" charset="0"/>
                        <a:cs typeface="Arial" charset="0"/>
                      </a:endParaRPr>
                    </a:p>
                  </a:txBody>
                  <a:tcPr marL="53340" marR="53340" marT="53340" marB="53340">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Water Supply</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24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Garbage and Sanitation</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24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Sewerage and Drainage</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48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Streetlights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48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Roads and Footpaths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72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Parks and Trees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gn="r">
                        <a:lnSpc>
                          <a:spcPts val="1680"/>
                        </a:lnSpc>
                        <a:buNone/>
                      </a:pPr>
                      <a:r>
                        <a:rPr lang="en-US" sz="1200" dirty="0">
                          <a:solidFill>
                            <a:srgbClr val="0E1A2B"/>
                          </a:solidFill>
                          <a:latin typeface="Arial" pitchFamily="34" charset="0"/>
                          <a:ea typeface="Arial" pitchFamily="34" charset="-122"/>
                          <a:cs typeface="Arial" pitchFamily="34" charset="-120"/>
                        </a:rPr>
                        <a:t>120 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0" name="Text 17"/>
          <p:cNvSpPr/>
          <p:nvPr/>
        </p:nvSpPr>
        <p:spPr>
          <a:xfrm>
            <a:off x="6248400" y="2941321"/>
            <a:ext cx="5284724"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639B"/>
                </a:solidFill>
                <a:latin typeface="Arial" pitchFamily="34" charset="0"/>
                <a:ea typeface="Arial" pitchFamily="34" charset="-122"/>
                <a:cs typeface="Arial" pitchFamily="34" charset="-120"/>
              </a:rPr>
              <a:t>31</a:t>
            </a:r>
            <a:endParaRPr lang="en-US" sz="6000" dirty="0"/>
          </a:p>
        </p:txBody>
      </p:sp>
      <p:sp>
        <p:nvSpPr>
          <p:cNvPr id="21" name="Text 18"/>
          <p:cNvSpPr/>
          <p:nvPr/>
        </p:nvSpPr>
        <p:spPr>
          <a:xfrm>
            <a:off x="6248400" y="3779521"/>
            <a:ext cx="528472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E1A2B"/>
                </a:solidFill>
                <a:latin typeface="Arial" pitchFamily="34" charset="0"/>
                <a:ea typeface="Arial" pitchFamily="34" charset="-122"/>
                <a:cs typeface="Arial" pitchFamily="34" charset="-120"/>
              </a:rPr>
              <a:t>breaches found on the first run</a:t>
            </a:r>
            <a:endParaRPr lang="en-US" sz="1600" dirty="0"/>
          </a:p>
        </p:txBody>
      </p:sp>
      <p:sp>
        <p:nvSpPr>
          <p:cNvPr id="22" name="Text 19"/>
          <p:cNvSpPr/>
          <p:nvPr/>
        </p:nvSpPr>
        <p:spPr>
          <a:xfrm>
            <a:off x="6248400" y="4140200"/>
            <a:ext cx="5284724"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6 escalated to level 2 and 25 to level 3. High priority gets half the target, critical gets 6 hours in any department (CC-3).</a:t>
            </a:r>
            <a:endParaRPr lang="en-US" sz="1200" dirty="0"/>
          </a:p>
        </p:txBody>
      </p:sp>
      <p:sp>
        <p:nvSpPr>
          <p:cNvPr id="23" name="Text 2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24" name="Text 2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6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10 / DELIVERY WITH N8N</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AGENTS DECIDE, N8N DELIVERS</a:t>
            </a:r>
            <a:endParaRPr lang="en-US" sz="3600" dirty="0"/>
          </a:p>
        </p:txBody>
      </p:sp>
      <p:pic>
        <p:nvPicPr>
          <p:cNvPr id="4" name="Image 0" descr="connector"/>
          <p:cNvPicPr>
            <a:picLocks noChangeAspect="1"/>
          </p:cNvPicPr>
          <p:nvPr/>
        </p:nvPicPr>
        <p:blipFill>
          <a:blip r:embed="rId3"/>
          <a:srcRect/>
          <a:stretch/>
        </p:blipFill>
        <p:spPr>
          <a:xfrm>
            <a:off x="2794000" y="2616200"/>
            <a:ext cx="914400" cy="101600"/>
          </a:xfrm>
          <a:prstGeom prst="rect">
            <a:avLst/>
          </a:prstGeom>
        </p:spPr>
      </p:pic>
      <p:pic>
        <p:nvPicPr>
          <p:cNvPr id="5" name="Image 1" descr="connector"/>
          <p:cNvPicPr>
            <a:picLocks noChangeAspect="1"/>
          </p:cNvPicPr>
          <p:nvPr/>
        </p:nvPicPr>
        <p:blipFill>
          <a:blip r:embed="rId3"/>
          <a:srcRect/>
          <a:stretch/>
        </p:blipFill>
        <p:spPr>
          <a:xfrm>
            <a:off x="5638800" y="2616200"/>
            <a:ext cx="914400" cy="101600"/>
          </a:xfrm>
          <a:prstGeom prst="rect">
            <a:avLst/>
          </a:prstGeom>
        </p:spPr>
      </p:pic>
      <p:pic>
        <p:nvPicPr>
          <p:cNvPr id="6" name="Image 2" descr="connector"/>
          <p:cNvPicPr>
            <a:picLocks noChangeAspect="1"/>
          </p:cNvPicPr>
          <p:nvPr/>
        </p:nvPicPr>
        <p:blipFill>
          <a:blip r:embed="rId3"/>
          <a:srcRect/>
          <a:stretch/>
        </p:blipFill>
        <p:spPr>
          <a:xfrm>
            <a:off x="8483600" y="2616200"/>
            <a:ext cx="914400" cy="101600"/>
          </a:xfrm>
          <a:prstGeom prst="rect">
            <a:avLst/>
          </a:prstGeom>
        </p:spPr>
      </p:pic>
      <p:sp>
        <p:nvSpPr>
          <p:cNvPr id="7" name="Shape 2"/>
          <p:cNvSpPr/>
          <p:nvPr/>
        </p:nvSpPr>
        <p:spPr>
          <a:xfrm>
            <a:off x="819150" y="2038350"/>
            <a:ext cx="2019300" cy="1257300"/>
          </a:xfrm>
          <a:prstGeom prst="roundRect">
            <a:avLst>
              <a:gd name="adj" fmla="val 5556"/>
            </a:avLst>
          </a:prstGeom>
          <a:solidFill>
            <a:srgbClr val="00639B"/>
          </a:solidFill>
          <a:ln w="12700">
            <a:solidFill>
              <a:srgbClr val="00639B"/>
            </a:solidFill>
            <a:prstDash val="solid"/>
          </a:ln>
        </p:spPr>
        <p:txBody>
          <a:bodyPr/>
          <a:lstStyle/>
          <a:p>
            <a:endParaRPr lang="en-IN"/>
          </a:p>
        </p:txBody>
      </p:sp>
      <p:sp>
        <p:nvSpPr>
          <p:cNvPr id="8" name="Text 3"/>
          <p:cNvSpPr/>
          <p:nvPr/>
        </p:nvSpPr>
        <p:spPr>
          <a:xfrm>
            <a:off x="975360" y="21945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E6F5"/>
                </a:solidFill>
                <a:latin typeface="Courier New" pitchFamily="49" charset="0"/>
                <a:ea typeface="Courier New" pitchFamily="49" charset="-122"/>
                <a:cs typeface="Courier New" pitchFamily="49" charset="-120"/>
              </a:rPr>
              <a:t>SOURCE</a:t>
            </a:r>
            <a:endParaRPr lang="en-US" sz="1200" dirty="0"/>
          </a:p>
        </p:txBody>
      </p:sp>
      <p:sp>
        <p:nvSpPr>
          <p:cNvPr id="9" name="Text 4"/>
          <p:cNvSpPr/>
          <p:nvPr/>
        </p:nvSpPr>
        <p:spPr>
          <a:xfrm>
            <a:off x="975360" y="2458721"/>
            <a:ext cx="175808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2"/>
                </a:solidFill>
                <a:latin typeface="Arial" pitchFamily="34" charset="0"/>
                <a:ea typeface="Arial" pitchFamily="34" charset="-122"/>
                <a:cs typeface="Arial" pitchFamily="34" charset="-120"/>
              </a:rPr>
              <a:t>Crew and apps</a:t>
            </a:r>
            <a:endParaRPr lang="en-US" sz="1600" dirty="0"/>
          </a:p>
        </p:txBody>
      </p:sp>
      <p:sp>
        <p:nvSpPr>
          <p:cNvPr id="10" name="Text 5"/>
          <p:cNvSpPr/>
          <p:nvPr/>
        </p:nvSpPr>
        <p:spPr>
          <a:xfrm>
            <a:off x="975360" y="27533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F1FA"/>
                </a:solidFill>
                <a:latin typeface="Arial" pitchFamily="34" charset="0"/>
                <a:ea typeface="Arial" pitchFamily="34" charset="-122"/>
                <a:cs typeface="Arial" pitchFamily="34" charset="-120"/>
              </a:rPr>
              <a:t>HTTP POST with JSON</a:t>
            </a:r>
            <a:endParaRPr lang="en-US" sz="1200" dirty="0"/>
          </a:p>
        </p:txBody>
      </p:sp>
      <p:sp>
        <p:nvSpPr>
          <p:cNvPr id="11" name="Shape 6"/>
          <p:cNvSpPr/>
          <p:nvPr/>
        </p:nvSpPr>
        <p:spPr>
          <a:xfrm>
            <a:off x="3663950" y="2038350"/>
            <a:ext cx="2019300" cy="1257300"/>
          </a:xfrm>
          <a:prstGeom prst="roundRect">
            <a:avLst>
              <a:gd name="adj" fmla="val 5556"/>
            </a:avLst>
          </a:prstGeom>
          <a:solidFill>
            <a:srgbClr val="FBFCFA"/>
          </a:solidFill>
          <a:ln w="12700">
            <a:solidFill>
              <a:srgbClr val="0E1A2B"/>
            </a:solidFill>
            <a:prstDash val="solid"/>
          </a:ln>
        </p:spPr>
        <p:txBody>
          <a:bodyPr/>
          <a:lstStyle/>
          <a:p>
            <a:endParaRPr lang="en-IN"/>
          </a:p>
        </p:txBody>
      </p:sp>
      <p:sp>
        <p:nvSpPr>
          <p:cNvPr id="12" name="Text 7"/>
          <p:cNvSpPr/>
          <p:nvPr/>
        </p:nvSpPr>
        <p:spPr>
          <a:xfrm>
            <a:off x="3820160" y="21945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N8N NODE 1</a:t>
            </a:r>
            <a:endParaRPr lang="en-US" sz="1200" dirty="0"/>
          </a:p>
        </p:txBody>
      </p:sp>
      <p:sp>
        <p:nvSpPr>
          <p:cNvPr id="13" name="Text 8"/>
          <p:cNvSpPr/>
          <p:nvPr/>
        </p:nvSpPr>
        <p:spPr>
          <a:xfrm>
            <a:off x="3820160" y="2458721"/>
            <a:ext cx="175808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Webhook</a:t>
            </a:r>
            <a:endParaRPr lang="en-US" sz="1600" dirty="0"/>
          </a:p>
        </p:txBody>
      </p:sp>
      <p:sp>
        <p:nvSpPr>
          <p:cNvPr id="14" name="Text 9"/>
          <p:cNvSpPr/>
          <p:nvPr/>
        </p:nvSpPr>
        <p:spPr>
          <a:xfrm>
            <a:off x="3820160" y="27533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/webhook/civic-ack</a:t>
            </a:r>
            <a:endParaRPr lang="en-US" sz="1200" dirty="0"/>
          </a:p>
        </p:txBody>
      </p:sp>
      <p:sp>
        <p:nvSpPr>
          <p:cNvPr id="15" name="Shape 10"/>
          <p:cNvSpPr/>
          <p:nvPr/>
        </p:nvSpPr>
        <p:spPr>
          <a:xfrm>
            <a:off x="6508750" y="2038350"/>
            <a:ext cx="2019300" cy="1257300"/>
          </a:xfrm>
          <a:prstGeom prst="roundRect">
            <a:avLst>
              <a:gd name="adj" fmla="val 5556"/>
            </a:avLst>
          </a:prstGeom>
          <a:solidFill>
            <a:srgbClr val="FBFCFA"/>
          </a:solidFill>
          <a:ln w="12700">
            <a:solidFill>
              <a:srgbClr val="0E1A2B"/>
            </a:solidFill>
            <a:prstDash val="solid"/>
          </a:ln>
        </p:spPr>
        <p:txBody>
          <a:bodyPr/>
          <a:lstStyle/>
          <a:p>
            <a:endParaRPr lang="en-IN"/>
          </a:p>
        </p:txBody>
      </p:sp>
      <p:sp>
        <p:nvSpPr>
          <p:cNvPr id="16" name="Text 11"/>
          <p:cNvSpPr/>
          <p:nvPr/>
        </p:nvSpPr>
        <p:spPr>
          <a:xfrm>
            <a:off x="6664960" y="21945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N8N NODE 2</a:t>
            </a:r>
            <a:endParaRPr lang="en-US" sz="1200" dirty="0"/>
          </a:p>
        </p:txBody>
      </p:sp>
      <p:sp>
        <p:nvSpPr>
          <p:cNvPr id="17" name="Text 12"/>
          <p:cNvSpPr/>
          <p:nvPr/>
        </p:nvSpPr>
        <p:spPr>
          <a:xfrm>
            <a:off x="6664960" y="2458721"/>
            <a:ext cx="175808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Format</a:t>
            </a:r>
            <a:endParaRPr lang="en-US" sz="1600" dirty="0"/>
          </a:p>
        </p:txBody>
      </p:sp>
      <p:sp>
        <p:nvSpPr>
          <p:cNvPr id="18" name="Text 13"/>
          <p:cNvSpPr/>
          <p:nvPr/>
        </p:nvSpPr>
        <p:spPr>
          <a:xfrm>
            <a:off x="6664960" y="27533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sorts by message type</a:t>
            </a:r>
            <a:endParaRPr lang="en-US" sz="1200" dirty="0"/>
          </a:p>
        </p:txBody>
      </p:sp>
      <p:sp>
        <p:nvSpPr>
          <p:cNvPr id="19" name="Shape 14"/>
          <p:cNvSpPr/>
          <p:nvPr/>
        </p:nvSpPr>
        <p:spPr>
          <a:xfrm>
            <a:off x="9353550" y="2038350"/>
            <a:ext cx="2019300" cy="1257300"/>
          </a:xfrm>
          <a:prstGeom prst="roundRect">
            <a:avLst>
              <a:gd name="adj" fmla="val 5556"/>
            </a:avLst>
          </a:prstGeom>
          <a:solidFill>
            <a:srgbClr val="FBFCFA"/>
          </a:solidFill>
          <a:ln w="12700">
            <a:solidFill>
              <a:srgbClr val="0E1A2B"/>
            </a:solidFill>
            <a:prstDash val="solid"/>
          </a:ln>
        </p:spPr>
        <p:txBody>
          <a:bodyPr/>
          <a:lstStyle/>
          <a:p>
            <a:endParaRPr lang="en-IN"/>
          </a:p>
        </p:txBody>
      </p:sp>
      <p:sp>
        <p:nvSpPr>
          <p:cNvPr id="20" name="Text 15"/>
          <p:cNvSpPr/>
          <p:nvPr/>
        </p:nvSpPr>
        <p:spPr>
          <a:xfrm>
            <a:off x="9509760" y="21945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N8N NODE 3</a:t>
            </a:r>
            <a:endParaRPr lang="en-US" sz="1200" dirty="0"/>
          </a:p>
        </p:txBody>
      </p:sp>
      <p:sp>
        <p:nvSpPr>
          <p:cNvPr id="21" name="Text 16"/>
          <p:cNvSpPr/>
          <p:nvPr/>
        </p:nvSpPr>
        <p:spPr>
          <a:xfrm>
            <a:off x="9509760" y="2458721"/>
            <a:ext cx="175808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Save</a:t>
            </a:r>
            <a:endParaRPr lang="en-US" sz="1600" dirty="0"/>
          </a:p>
        </p:txBody>
      </p:sp>
      <p:sp>
        <p:nvSpPr>
          <p:cNvPr id="22" name="Text 17"/>
          <p:cNvSpPr/>
          <p:nvPr/>
        </p:nvSpPr>
        <p:spPr>
          <a:xfrm>
            <a:off x="9509760" y="2753364"/>
            <a:ext cx="175808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into notifications table</a:t>
            </a:r>
            <a:endParaRPr lang="en-US" sz="1200" dirty="0"/>
          </a:p>
        </p:txBody>
      </p:sp>
      <p:sp>
        <p:nvSpPr>
          <p:cNvPr id="23" name="Shape 18"/>
          <p:cNvSpPr/>
          <p:nvPr/>
        </p:nvSpPr>
        <p:spPr>
          <a:xfrm>
            <a:off x="812800" y="3819525"/>
            <a:ext cx="3251200" cy="0"/>
          </a:xfrm>
          <a:prstGeom prst="line">
            <a:avLst/>
          </a:prstGeom>
          <a:noFill/>
          <a:ln w="19050">
            <a:solidFill>
              <a:srgbClr val="0E1A2B"/>
            </a:solidFill>
            <a:prstDash val="solid"/>
          </a:ln>
        </p:spPr>
        <p:txBody>
          <a:bodyPr/>
          <a:lstStyle/>
          <a:p>
            <a:endParaRPr lang="en-IN"/>
          </a:p>
        </p:txBody>
      </p:sp>
      <p:sp>
        <p:nvSpPr>
          <p:cNvPr id="24" name="Text 19"/>
          <p:cNvSpPr/>
          <p:nvPr/>
        </p:nvSpPr>
        <p:spPr>
          <a:xfrm>
            <a:off x="812800" y="3952242"/>
            <a:ext cx="33487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acknowledgement</a:t>
            </a:r>
            <a:endParaRPr lang="en-US" sz="1200" dirty="0"/>
          </a:p>
        </p:txBody>
      </p:sp>
      <p:sp>
        <p:nvSpPr>
          <p:cNvPr id="25" name="Text 20"/>
          <p:cNvSpPr/>
          <p:nvPr/>
        </p:nvSpPr>
        <p:spPr>
          <a:xfrm>
            <a:off x="812800" y="4216400"/>
            <a:ext cx="33487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Citizen reply</a:t>
            </a:r>
            <a:endParaRPr lang="en-US" sz="1600" dirty="0"/>
          </a:p>
        </p:txBody>
      </p:sp>
      <p:sp>
        <p:nvSpPr>
          <p:cNvPr id="26" name="Text 21"/>
          <p:cNvSpPr/>
          <p:nvPr/>
        </p:nvSpPr>
        <p:spPr>
          <a:xfrm>
            <a:off x="812800" y="4511042"/>
            <a:ext cx="3348736"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After every new complaint, in the citizen's language</a:t>
            </a:r>
            <a:endParaRPr lang="en-US" sz="1200" dirty="0"/>
          </a:p>
        </p:txBody>
      </p:sp>
      <p:sp>
        <p:nvSpPr>
          <p:cNvPr id="27" name="Shape 22"/>
          <p:cNvSpPr/>
          <p:nvPr/>
        </p:nvSpPr>
        <p:spPr>
          <a:xfrm>
            <a:off x="4470400" y="3819525"/>
            <a:ext cx="3251200" cy="0"/>
          </a:xfrm>
          <a:prstGeom prst="line">
            <a:avLst/>
          </a:prstGeom>
          <a:noFill/>
          <a:ln w="19050">
            <a:solidFill>
              <a:srgbClr val="0E1A2B"/>
            </a:solidFill>
            <a:prstDash val="solid"/>
          </a:ln>
        </p:spPr>
        <p:txBody>
          <a:bodyPr/>
          <a:lstStyle/>
          <a:p>
            <a:endParaRPr lang="en-IN"/>
          </a:p>
        </p:txBody>
      </p:sp>
      <p:sp>
        <p:nvSpPr>
          <p:cNvPr id="28" name="Text 23"/>
          <p:cNvSpPr/>
          <p:nvPr/>
        </p:nvSpPr>
        <p:spPr>
          <a:xfrm>
            <a:off x="4470400" y="3952242"/>
            <a:ext cx="33487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status_update</a:t>
            </a:r>
            <a:endParaRPr lang="en-US" sz="1200" dirty="0"/>
          </a:p>
        </p:txBody>
      </p:sp>
      <p:sp>
        <p:nvSpPr>
          <p:cNvPr id="29" name="Text 24"/>
          <p:cNvSpPr/>
          <p:nvPr/>
        </p:nvSpPr>
        <p:spPr>
          <a:xfrm>
            <a:off x="4470400" y="4216400"/>
            <a:ext cx="33487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Status change</a:t>
            </a:r>
            <a:endParaRPr lang="en-US" sz="1600" dirty="0"/>
          </a:p>
        </p:txBody>
      </p:sp>
      <p:sp>
        <p:nvSpPr>
          <p:cNvPr id="30" name="Text 25"/>
          <p:cNvSpPr/>
          <p:nvPr/>
        </p:nvSpPr>
        <p:spPr>
          <a:xfrm>
            <a:off x="4470400" y="4511042"/>
            <a:ext cx="3348736"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When staff mark a complaint in progress or resolved</a:t>
            </a:r>
            <a:endParaRPr lang="en-US" sz="1200" dirty="0"/>
          </a:p>
        </p:txBody>
      </p:sp>
      <p:sp>
        <p:nvSpPr>
          <p:cNvPr id="31" name="Shape 26"/>
          <p:cNvSpPr/>
          <p:nvPr/>
        </p:nvSpPr>
        <p:spPr>
          <a:xfrm>
            <a:off x="8128000" y="3819525"/>
            <a:ext cx="3251200" cy="0"/>
          </a:xfrm>
          <a:prstGeom prst="line">
            <a:avLst/>
          </a:prstGeom>
          <a:noFill/>
          <a:ln w="19050">
            <a:solidFill>
              <a:srgbClr val="0E1A2B"/>
            </a:solidFill>
            <a:prstDash val="solid"/>
          </a:ln>
        </p:spPr>
        <p:txBody>
          <a:bodyPr/>
          <a:lstStyle/>
          <a:p>
            <a:endParaRPr lang="en-IN"/>
          </a:p>
        </p:txBody>
      </p:sp>
      <p:sp>
        <p:nvSpPr>
          <p:cNvPr id="32" name="Text 27"/>
          <p:cNvSpPr/>
          <p:nvPr/>
        </p:nvSpPr>
        <p:spPr>
          <a:xfrm>
            <a:off x="8128000" y="3952242"/>
            <a:ext cx="334873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0639B"/>
                </a:solidFill>
                <a:latin typeface="Courier New" pitchFamily="49" charset="0"/>
                <a:ea typeface="Courier New" pitchFamily="49" charset="-122"/>
                <a:cs typeface="Courier New" pitchFamily="49" charset="-120"/>
              </a:rPr>
              <a:t>escalation</a:t>
            </a:r>
            <a:endParaRPr lang="en-US" sz="1200" dirty="0"/>
          </a:p>
        </p:txBody>
      </p:sp>
      <p:sp>
        <p:nvSpPr>
          <p:cNvPr id="33" name="Text 28"/>
          <p:cNvSpPr/>
          <p:nvPr/>
        </p:nvSpPr>
        <p:spPr>
          <a:xfrm>
            <a:off x="8128000" y="4216400"/>
            <a:ext cx="334873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E1A2B"/>
                </a:solidFill>
                <a:latin typeface="Arial" pitchFamily="34" charset="0"/>
                <a:ea typeface="Arial" pitchFamily="34" charset="-122"/>
                <a:cs typeface="Arial" pitchFamily="34" charset="-120"/>
              </a:rPr>
              <a:t>Officer alert</a:t>
            </a:r>
            <a:endParaRPr lang="en-US" sz="1600" dirty="0"/>
          </a:p>
        </p:txBody>
      </p:sp>
      <p:sp>
        <p:nvSpPr>
          <p:cNvPr id="34" name="Text 29"/>
          <p:cNvSpPr/>
          <p:nvPr/>
        </p:nvSpPr>
        <p:spPr>
          <a:xfrm>
            <a:off x="8128000" y="4511042"/>
            <a:ext cx="3348736"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From the SLA monitor, with the officer-wise list</a:t>
            </a:r>
            <a:endParaRPr lang="en-US" sz="1200" dirty="0"/>
          </a:p>
        </p:txBody>
      </p:sp>
      <p:sp>
        <p:nvSpPr>
          <p:cNvPr id="35" name="Text 30"/>
          <p:cNvSpPr/>
          <p:nvPr/>
        </p:nvSpPr>
        <p:spPr>
          <a:xfrm>
            <a:off x="812800" y="54610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Arial" pitchFamily="34" charset="0"/>
                <a:ea typeface="Arial" pitchFamily="34" charset="-122"/>
                <a:cs typeface="Arial" pitchFamily="34" charset="-120"/>
              </a:rPr>
              <a:t>Moving to WhatsApp, email or Slack means changing the last n8n node, not the Python.</a:t>
            </a:r>
            <a:endParaRPr lang="en-US" sz="1200" dirty="0"/>
          </a:p>
        </p:txBody>
      </p:sp>
      <p:sp>
        <p:nvSpPr>
          <p:cNvPr id="36" name="Text 3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37" name="Text 3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11 / TWO DASHBOARDS</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ONE FOR CITIZENS, ONE FOR THE CITY</a:t>
            </a:r>
            <a:endParaRPr lang="en-US" sz="3600" dirty="0"/>
          </a:p>
        </p:txBody>
      </p:sp>
      <p:sp>
        <p:nvSpPr>
          <p:cNvPr id="4" name="Shape 2"/>
          <p:cNvSpPr/>
          <p:nvPr/>
        </p:nvSpPr>
        <p:spPr>
          <a:xfrm>
            <a:off x="812800" y="1732279"/>
            <a:ext cx="5080000" cy="497840"/>
          </a:xfrm>
          <a:prstGeom prst="rect">
            <a:avLst/>
          </a:prstGeom>
          <a:solidFill>
            <a:srgbClr val="00639B"/>
          </a:solidFill>
          <a:ln/>
        </p:spPr>
        <p:txBody>
          <a:bodyPr/>
          <a:lstStyle/>
          <a:p>
            <a:endParaRPr lang="en-IN"/>
          </a:p>
        </p:txBody>
      </p:sp>
      <p:sp>
        <p:nvSpPr>
          <p:cNvPr id="5" name="Text 3"/>
          <p:cNvSpPr/>
          <p:nvPr/>
        </p:nvSpPr>
        <p:spPr>
          <a:xfrm>
            <a:off x="990600" y="1859279"/>
            <a:ext cx="130054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2"/>
                </a:solidFill>
                <a:latin typeface="Arial" pitchFamily="34" charset="0"/>
                <a:ea typeface="Arial" pitchFamily="34" charset="-122"/>
                <a:cs typeface="Arial" pitchFamily="34" charset="-120"/>
              </a:rPr>
              <a:t>Citizen app</a:t>
            </a:r>
            <a:endParaRPr lang="en-US" sz="1600" dirty="0"/>
          </a:p>
        </p:txBody>
      </p:sp>
      <p:sp>
        <p:nvSpPr>
          <p:cNvPr id="6" name="Text 4"/>
          <p:cNvSpPr/>
          <p:nvPr/>
        </p:nvSpPr>
        <p:spPr>
          <a:xfrm>
            <a:off x="5166265" y="1874521"/>
            <a:ext cx="54873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CFE6F5"/>
                </a:solidFill>
                <a:latin typeface="Courier New" pitchFamily="49" charset="0"/>
                <a:ea typeface="Courier New" pitchFamily="49" charset="-122"/>
                <a:cs typeface="Courier New" pitchFamily="49" charset="-120"/>
              </a:rPr>
              <a:t>:8501</a:t>
            </a:r>
            <a:endParaRPr lang="en-US" sz="1200" dirty="0"/>
          </a:p>
        </p:txBody>
      </p:sp>
      <p:sp>
        <p:nvSpPr>
          <p:cNvPr id="7" name="Shape 5"/>
          <p:cNvSpPr/>
          <p:nvPr/>
        </p:nvSpPr>
        <p:spPr>
          <a:xfrm>
            <a:off x="812800" y="2708911"/>
            <a:ext cx="5080000" cy="0"/>
          </a:xfrm>
          <a:prstGeom prst="line">
            <a:avLst/>
          </a:prstGeom>
          <a:noFill/>
          <a:ln w="12700">
            <a:solidFill>
              <a:srgbClr val="C5D2DC"/>
            </a:solidFill>
            <a:prstDash val="solid"/>
          </a:ln>
        </p:spPr>
        <p:txBody>
          <a:bodyPr/>
          <a:lstStyle/>
          <a:p>
            <a:endParaRPr lang="en-IN"/>
          </a:p>
        </p:txBody>
      </p:sp>
      <p:sp>
        <p:nvSpPr>
          <p:cNvPr id="8" name="Text 6"/>
          <p:cNvSpPr/>
          <p:nvPr/>
        </p:nvSpPr>
        <p:spPr>
          <a:xfrm>
            <a:off x="812800" y="2357121"/>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Pick area and landmark, then type the problem in English, Hindi or Hinglish</a:t>
            </a:r>
            <a:endParaRPr lang="en-US" sz="1200" dirty="0"/>
          </a:p>
        </p:txBody>
      </p:sp>
      <p:sp>
        <p:nvSpPr>
          <p:cNvPr id="9" name="Shape 7"/>
          <p:cNvSpPr/>
          <p:nvPr/>
        </p:nvSpPr>
        <p:spPr>
          <a:xfrm>
            <a:off x="812800" y="3194054"/>
            <a:ext cx="5080000" cy="0"/>
          </a:xfrm>
          <a:prstGeom prst="line">
            <a:avLst/>
          </a:prstGeom>
          <a:noFill/>
          <a:ln w="12700">
            <a:solidFill>
              <a:srgbClr val="C5D2DC"/>
            </a:solidFill>
            <a:prstDash val="solid"/>
          </a:ln>
        </p:spPr>
        <p:txBody>
          <a:bodyPr/>
          <a:lstStyle/>
          <a:p>
            <a:endParaRPr lang="en-IN"/>
          </a:p>
        </p:txBody>
      </p:sp>
      <p:sp>
        <p:nvSpPr>
          <p:cNvPr id="10" name="Text 8"/>
          <p:cNvSpPr/>
          <p:nvPr/>
        </p:nvSpPr>
        <p:spPr>
          <a:xfrm>
            <a:off x="812800" y="2842264"/>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Watch each agent's step appear live while the crew works</a:t>
            </a:r>
            <a:endParaRPr lang="en-US" sz="1200" dirty="0"/>
          </a:p>
        </p:txBody>
      </p:sp>
      <p:sp>
        <p:nvSpPr>
          <p:cNvPr id="11" name="Shape 9"/>
          <p:cNvSpPr/>
          <p:nvPr/>
        </p:nvSpPr>
        <p:spPr>
          <a:xfrm>
            <a:off x="812800" y="3679190"/>
            <a:ext cx="5080000" cy="0"/>
          </a:xfrm>
          <a:prstGeom prst="line">
            <a:avLst/>
          </a:prstGeom>
          <a:noFill/>
          <a:ln w="12700">
            <a:solidFill>
              <a:srgbClr val="C5D2DC"/>
            </a:solidFill>
            <a:prstDash val="solid"/>
          </a:ln>
        </p:spPr>
        <p:txBody>
          <a:bodyPr/>
          <a:lstStyle/>
          <a:p>
            <a:endParaRPr lang="en-IN"/>
          </a:p>
        </p:txBody>
      </p:sp>
      <p:sp>
        <p:nvSpPr>
          <p:cNvPr id="12" name="Text 10"/>
          <p:cNvSpPr/>
          <p:nvPr/>
        </p:nvSpPr>
        <p:spPr>
          <a:xfrm>
            <a:off x="812800" y="3327400"/>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Get the reply with department, priority and target time</a:t>
            </a:r>
            <a:endParaRPr lang="en-US" sz="1200" dirty="0"/>
          </a:p>
        </p:txBody>
      </p:sp>
      <p:sp>
        <p:nvSpPr>
          <p:cNvPr id="13" name="Shape 11"/>
          <p:cNvSpPr/>
          <p:nvPr/>
        </p:nvSpPr>
        <p:spPr>
          <a:xfrm>
            <a:off x="812800" y="4164332"/>
            <a:ext cx="5080000" cy="0"/>
          </a:xfrm>
          <a:prstGeom prst="line">
            <a:avLst/>
          </a:prstGeom>
          <a:noFill/>
          <a:ln w="12700">
            <a:solidFill>
              <a:srgbClr val="C5D2DC"/>
            </a:solidFill>
            <a:prstDash val="solid"/>
          </a:ln>
        </p:spPr>
        <p:txBody>
          <a:bodyPr/>
          <a:lstStyle/>
          <a:p>
            <a:endParaRPr lang="en-IN"/>
          </a:p>
        </p:txBody>
      </p:sp>
      <p:sp>
        <p:nvSpPr>
          <p:cNvPr id="14" name="Text 12"/>
          <p:cNvSpPr/>
          <p:nvPr/>
        </p:nvSpPr>
        <p:spPr>
          <a:xfrm>
            <a:off x="812800" y="3812542"/>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Track any complaint by its ID</a:t>
            </a:r>
            <a:endParaRPr lang="en-US" sz="1200" dirty="0"/>
          </a:p>
        </p:txBody>
      </p:sp>
      <p:sp>
        <p:nvSpPr>
          <p:cNvPr id="15" name="Shape 13"/>
          <p:cNvSpPr/>
          <p:nvPr/>
        </p:nvSpPr>
        <p:spPr>
          <a:xfrm>
            <a:off x="6299200" y="1732279"/>
            <a:ext cx="5080000" cy="497840"/>
          </a:xfrm>
          <a:prstGeom prst="rect">
            <a:avLst/>
          </a:prstGeom>
          <a:solidFill>
            <a:srgbClr val="0E1A2B"/>
          </a:solidFill>
          <a:ln/>
        </p:spPr>
        <p:txBody>
          <a:bodyPr/>
          <a:lstStyle/>
          <a:p>
            <a:endParaRPr lang="en-IN"/>
          </a:p>
        </p:txBody>
      </p:sp>
      <p:sp>
        <p:nvSpPr>
          <p:cNvPr id="16" name="Text 14"/>
          <p:cNvSpPr/>
          <p:nvPr/>
        </p:nvSpPr>
        <p:spPr>
          <a:xfrm>
            <a:off x="6477000" y="1859279"/>
            <a:ext cx="185623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4F6F2"/>
                </a:solidFill>
                <a:latin typeface="Arial" pitchFamily="34" charset="0"/>
                <a:ea typeface="Arial" pitchFamily="34" charset="-122"/>
                <a:cs typeface="Arial" pitchFamily="34" charset="-120"/>
              </a:rPr>
              <a:t>Department app</a:t>
            </a:r>
            <a:endParaRPr lang="en-US" sz="1600" dirty="0"/>
          </a:p>
        </p:txBody>
      </p:sp>
      <p:sp>
        <p:nvSpPr>
          <p:cNvPr id="17" name="Text 15"/>
          <p:cNvSpPr/>
          <p:nvPr/>
        </p:nvSpPr>
        <p:spPr>
          <a:xfrm>
            <a:off x="10652665" y="1874521"/>
            <a:ext cx="548735"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6D6"/>
                </a:solidFill>
                <a:latin typeface="Courier New" pitchFamily="49" charset="0"/>
                <a:ea typeface="Courier New" pitchFamily="49" charset="-122"/>
                <a:cs typeface="Courier New" pitchFamily="49" charset="-120"/>
              </a:rPr>
              <a:t>:8502</a:t>
            </a:r>
            <a:endParaRPr lang="en-US" sz="1200" dirty="0"/>
          </a:p>
        </p:txBody>
      </p:sp>
      <p:sp>
        <p:nvSpPr>
          <p:cNvPr id="18" name="Shape 16"/>
          <p:cNvSpPr/>
          <p:nvPr/>
        </p:nvSpPr>
        <p:spPr>
          <a:xfrm>
            <a:off x="6299200" y="2708911"/>
            <a:ext cx="5080000" cy="0"/>
          </a:xfrm>
          <a:prstGeom prst="line">
            <a:avLst/>
          </a:prstGeom>
          <a:noFill/>
          <a:ln w="12700">
            <a:solidFill>
              <a:srgbClr val="C5D2DC"/>
            </a:solidFill>
            <a:prstDash val="solid"/>
          </a:ln>
        </p:spPr>
        <p:txBody>
          <a:bodyPr/>
          <a:lstStyle/>
          <a:p>
            <a:endParaRPr lang="en-IN"/>
          </a:p>
        </p:txBody>
      </p:sp>
      <p:sp>
        <p:nvSpPr>
          <p:cNvPr id="19" name="Text 17"/>
          <p:cNvSpPr/>
          <p:nvPr/>
        </p:nvSpPr>
        <p:spPr>
          <a:xfrm>
            <a:off x="6299200" y="2357121"/>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Open, overdue, critical, handled by AI and merged, at a glance</a:t>
            </a:r>
            <a:endParaRPr lang="en-US" sz="1200" dirty="0"/>
          </a:p>
        </p:txBody>
      </p:sp>
      <p:sp>
        <p:nvSpPr>
          <p:cNvPr id="20" name="Shape 18"/>
          <p:cNvSpPr/>
          <p:nvPr/>
        </p:nvSpPr>
        <p:spPr>
          <a:xfrm>
            <a:off x="6299200" y="3194054"/>
            <a:ext cx="5080000" cy="0"/>
          </a:xfrm>
          <a:prstGeom prst="line">
            <a:avLst/>
          </a:prstGeom>
          <a:noFill/>
          <a:ln w="12700">
            <a:solidFill>
              <a:srgbClr val="C5D2DC"/>
            </a:solidFill>
            <a:prstDash val="solid"/>
          </a:ln>
        </p:spPr>
        <p:txBody>
          <a:bodyPr/>
          <a:lstStyle/>
          <a:p>
            <a:endParaRPr lang="en-IN"/>
          </a:p>
        </p:txBody>
      </p:sp>
      <p:sp>
        <p:nvSpPr>
          <p:cNvPr id="21" name="Text 19"/>
          <p:cNvSpPr/>
          <p:nvPr/>
        </p:nvSpPr>
        <p:spPr>
          <a:xfrm>
            <a:off x="6299200" y="2842264"/>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Deadline board marked overdue, under 6 hours or on time</a:t>
            </a:r>
            <a:endParaRPr lang="en-US" sz="1200" dirty="0"/>
          </a:p>
        </p:txBody>
      </p:sp>
      <p:sp>
        <p:nvSpPr>
          <p:cNvPr id="22" name="Shape 20"/>
          <p:cNvSpPr/>
          <p:nvPr/>
        </p:nvSpPr>
        <p:spPr>
          <a:xfrm>
            <a:off x="6299200" y="3679190"/>
            <a:ext cx="5080000" cy="0"/>
          </a:xfrm>
          <a:prstGeom prst="line">
            <a:avLst/>
          </a:prstGeom>
          <a:noFill/>
          <a:ln w="12700">
            <a:solidFill>
              <a:srgbClr val="C5D2DC"/>
            </a:solidFill>
            <a:prstDash val="solid"/>
          </a:ln>
        </p:spPr>
        <p:txBody>
          <a:bodyPr/>
          <a:lstStyle/>
          <a:p>
            <a:endParaRPr lang="en-IN"/>
          </a:p>
        </p:txBody>
      </p:sp>
      <p:sp>
        <p:nvSpPr>
          <p:cNvPr id="23" name="Text 21"/>
          <p:cNvSpPr/>
          <p:nvPr/>
        </p:nvSpPr>
        <p:spPr>
          <a:xfrm>
            <a:off x="6299200" y="3327400"/>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Mark in progress or resolved; the citizen is told through n8n</a:t>
            </a:r>
            <a:endParaRPr lang="en-US" sz="1200" dirty="0"/>
          </a:p>
        </p:txBody>
      </p:sp>
      <p:sp>
        <p:nvSpPr>
          <p:cNvPr id="24" name="Shape 22"/>
          <p:cNvSpPr/>
          <p:nvPr/>
        </p:nvSpPr>
        <p:spPr>
          <a:xfrm>
            <a:off x="6299200" y="4164332"/>
            <a:ext cx="5080000" cy="0"/>
          </a:xfrm>
          <a:prstGeom prst="line">
            <a:avLst/>
          </a:prstGeom>
          <a:noFill/>
          <a:ln w="12700">
            <a:solidFill>
              <a:srgbClr val="C5D2DC"/>
            </a:solidFill>
            <a:prstDash val="solid"/>
          </a:ln>
        </p:spPr>
        <p:txBody>
          <a:bodyPr/>
          <a:lstStyle/>
          <a:p>
            <a:endParaRPr lang="en-IN"/>
          </a:p>
        </p:txBody>
      </p:sp>
      <p:sp>
        <p:nvSpPr>
          <p:cNvPr id="25" name="Text 23"/>
          <p:cNvSpPr/>
          <p:nvPr/>
        </p:nvSpPr>
        <p:spPr>
          <a:xfrm>
            <a:off x="6299200" y="3812542"/>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Audit trail with cited rules and guardrail overrides</a:t>
            </a:r>
            <a:endParaRPr lang="en-US" sz="1200" dirty="0"/>
          </a:p>
        </p:txBody>
      </p:sp>
      <p:sp>
        <p:nvSpPr>
          <p:cNvPr id="26" name="Shape 24"/>
          <p:cNvSpPr/>
          <p:nvPr/>
        </p:nvSpPr>
        <p:spPr>
          <a:xfrm>
            <a:off x="6299200" y="4649469"/>
            <a:ext cx="5080000" cy="0"/>
          </a:xfrm>
          <a:prstGeom prst="line">
            <a:avLst/>
          </a:prstGeom>
          <a:noFill/>
          <a:ln w="12700">
            <a:solidFill>
              <a:srgbClr val="C5D2DC"/>
            </a:solidFill>
            <a:prstDash val="solid"/>
          </a:ln>
        </p:spPr>
        <p:txBody>
          <a:bodyPr/>
          <a:lstStyle/>
          <a:p>
            <a:endParaRPr lang="en-IN"/>
          </a:p>
        </p:txBody>
      </p:sp>
      <p:sp>
        <p:nvSpPr>
          <p:cNvPr id="27" name="Text 25"/>
          <p:cNvSpPr/>
          <p:nvPr/>
        </p:nvSpPr>
        <p:spPr>
          <a:xfrm>
            <a:off x="6299200" y="4297679"/>
            <a:ext cx="5232400"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SLA monitor button and accuracy against the answer key</a:t>
            </a:r>
            <a:endParaRPr lang="en-US" sz="1200" dirty="0"/>
          </a:p>
        </p:txBody>
      </p:sp>
      <p:sp>
        <p:nvSpPr>
          <p:cNvPr id="28" name="Text 2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29" name="Text 27"/>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12 / TECH STACK</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ALL OF IT RUNS ON ONE LAPTOP</a:t>
            </a:r>
            <a:endParaRPr lang="en-US" sz="3600" dirty="0"/>
          </a:p>
        </p:txBody>
      </p:sp>
      <p:sp>
        <p:nvSpPr>
          <p:cNvPr id="4" name="Shape 2"/>
          <p:cNvSpPr/>
          <p:nvPr/>
        </p:nvSpPr>
        <p:spPr>
          <a:xfrm>
            <a:off x="812800" y="1732279"/>
            <a:ext cx="10566400" cy="3322320"/>
          </a:xfrm>
          <a:prstGeom prst="rect">
            <a:avLst/>
          </a:prstGeom>
          <a:solidFill>
            <a:srgbClr val="FBFCFA"/>
          </a:solidFill>
          <a:ln/>
        </p:spPr>
        <p:txBody>
          <a:bodyPr/>
          <a:lstStyle/>
          <a:p>
            <a:endParaRPr lang="en-IN"/>
          </a:p>
        </p:txBody>
      </p:sp>
      <p:sp>
        <p:nvSpPr>
          <p:cNvPr id="5" name="Shape 3"/>
          <p:cNvSpPr/>
          <p:nvPr/>
        </p:nvSpPr>
        <p:spPr>
          <a:xfrm>
            <a:off x="11372850" y="1732279"/>
            <a:ext cx="0" cy="3322320"/>
          </a:xfrm>
          <a:prstGeom prst="line">
            <a:avLst/>
          </a:prstGeom>
          <a:noFill/>
          <a:ln w="12700">
            <a:solidFill>
              <a:srgbClr val="0E1A2B"/>
            </a:solidFill>
            <a:prstDash val="solid"/>
          </a:ln>
        </p:spPr>
        <p:txBody>
          <a:bodyPr/>
          <a:lstStyle/>
          <a:p>
            <a:endParaRPr lang="en-IN"/>
          </a:p>
        </p:txBody>
      </p:sp>
      <p:sp>
        <p:nvSpPr>
          <p:cNvPr id="6" name="Shape 4"/>
          <p:cNvSpPr/>
          <p:nvPr/>
        </p:nvSpPr>
        <p:spPr>
          <a:xfrm>
            <a:off x="812800" y="5048249"/>
            <a:ext cx="10566400" cy="0"/>
          </a:xfrm>
          <a:prstGeom prst="line">
            <a:avLst/>
          </a:prstGeom>
          <a:noFill/>
          <a:ln w="12700">
            <a:solidFill>
              <a:srgbClr val="0E1A2B"/>
            </a:solidFill>
            <a:prstDash val="solid"/>
          </a:ln>
        </p:spPr>
        <p:txBody>
          <a:bodyPr/>
          <a:lstStyle/>
          <a:p>
            <a:endParaRPr lang="en-IN"/>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742439"/>
          <a:ext cx="10546080" cy="3302000"/>
        </p:xfrm>
        <a:graphic>
          <a:graphicData uri="http://schemas.openxmlformats.org/drawingml/2006/table">
            <a:tbl>
              <a:tblPr/>
              <a:tblGrid>
                <a:gridCol w="2109216">
                  <a:extLst>
                    <a:ext uri="{9D8B030D-6E8A-4147-A177-3AD203B41FA5}">
                      <a16:colId xmlns:a16="http://schemas.microsoft.com/office/drawing/2014/main" val="20000"/>
                    </a:ext>
                  </a:extLst>
                </a:gridCol>
                <a:gridCol w="5273040">
                  <a:extLst>
                    <a:ext uri="{9D8B030D-6E8A-4147-A177-3AD203B41FA5}">
                      <a16:colId xmlns:a16="http://schemas.microsoft.com/office/drawing/2014/main" val="20001"/>
                    </a:ext>
                  </a:extLst>
                </a:gridCol>
                <a:gridCol w="3163824">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Layer</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Tool</a:t>
                      </a:r>
                      <a:endParaRPr lang="en-US" sz="1200" dirty="0">
                        <a:latin typeface="Arial" charset="0"/>
                        <a:ea typeface="Arial" charset="0"/>
                        <a:cs typeface="Arial" charset="0"/>
                      </a:endParaRPr>
                    </a:p>
                  </a:txBody>
                  <a:tcPr marL="53340" marR="53340" marT="53340" marB="53340">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Runs on</a:t>
                      </a:r>
                      <a:endParaRPr lang="en-US" sz="1200" dirty="0">
                        <a:latin typeface="Arial" charset="0"/>
                        <a:ea typeface="Arial" charset="0"/>
                        <a:cs typeface="Arial" charset="0"/>
                      </a:endParaRPr>
                    </a:p>
                  </a:txBody>
                  <a:tcPr marL="53340" marR="53340" marT="53340" marB="53340">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Agents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CrewAI 1.15 Flows, Python 3.12</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WSL Ubuntu</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Local LLM</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Ollama qwen2.5 7B as civic-qwen, 8K context</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Docker in WSL</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API LLM</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Gemini Flash Lite, with Flash as backup</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Google API, optional</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Embeddings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bge-m3, multilingual</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Ollama</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Vector search</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ChromaDB, embedded</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Inside the Python process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Database</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PostgreSQL 16</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WSL Ubuntu</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Automation</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n8n</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Docker in WSL</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Interface</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Streamlit, two apps</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Ports 8501 and 8502</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8"/>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Hardware</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12 cores, 15 GB for WSL, no GPU</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Student laptop</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9" name="Text 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13 / RESULTS</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SCORED AGAINST AN ANSWER KEY</a:t>
            </a:r>
            <a:endParaRPr lang="en-US" sz="3600" dirty="0"/>
          </a:p>
        </p:txBody>
      </p:sp>
      <p:sp>
        <p:nvSpPr>
          <p:cNvPr id="4" name="Shape 2"/>
          <p:cNvSpPr/>
          <p:nvPr/>
        </p:nvSpPr>
        <p:spPr>
          <a:xfrm>
            <a:off x="812800" y="1741804"/>
            <a:ext cx="2413000" cy="0"/>
          </a:xfrm>
          <a:prstGeom prst="line">
            <a:avLst/>
          </a:prstGeom>
          <a:noFill/>
          <a:ln w="19050">
            <a:solidFill>
              <a:srgbClr val="0E1A2B"/>
            </a:solidFill>
            <a:prstDash val="solid"/>
          </a:ln>
        </p:spPr>
        <p:txBody>
          <a:bodyPr/>
          <a:lstStyle/>
          <a:p>
            <a:endParaRPr lang="en-IN"/>
          </a:p>
        </p:txBody>
      </p:sp>
      <p:sp>
        <p:nvSpPr>
          <p:cNvPr id="5" name="Text 3"/>
          <p:cNvSpPr/>
          <p:nvPr/>
        </p:nvSpPr>
        <p:spPr>
          <a:xfrm>
            <a:off x="812800" y="1823721"/>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639B"/>
                </a:solidFill>
                <a:latin typeface="Arial" pitchFamily="34" charset="0"/>
                <a:ea typeface="Arial" pitchFamily="34" charset="-122"/>
                <a:cs typeface="Arial" pitchFamily="34" charset="-120"/>
              </a:rPr>
              <a:t>5/5</a:t>
            </a:r>
            <a:endParaRPr lang="en-US" sz="6000" dirty="0"/>
          </a:p>
        </p:txBody>
      </p:sp>
      <p:sp>
        <p:nvSpPr>
          <p:cNvPr id="6" name="Text 4"/>
          <p:cNvSpPr/>
          <p:nvPr/>
        </p:nvSpPr>
        <p:spPr>
          <a:xfrm>
            <a:off x="812800" y="2611121"/>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departments correct</a:t>
            </a:r>
            <a:endParaRPr lang="en-US" sz="1200" dirty="0"/>
          </a:p>
        </p:txBody>
      </p:sp>
      <p:sp>
        <p:nvSpPr>
          <p:cNvPr id="7" name="Shape 5"/>
          <p:cNvSpPr/>
          <p:nvPr/>
        </p:nvSpPr>
        <p:spPr>
          <a:xfrm>
            <a:off x="3530600" y="1741804"/>
            <a:ext cx="2413000" cy="0"/>
          </a:xfrm>
          <a:prstGeom prst="line">
            <a:avLst/>
          </a:prstGeom>
          <a:noFill/>
          <a:ln w="19050">
            <a:solidFill>
              <a:srgbClr val="0E1A2B"/>
            </a:solidFill>
            <a:prstDash val="solid"/>
          </a:ln>
        </p:spPr>
        <p:txBody>
          <a:bodyPr/>
          <a:lstStyle/>
          <a:p>
            <a:endParaRPr lang="en-IN"/>
          </a:p>
        </p:txBody>
      </p:sp>
      <p:sp>
        <p:nvSpPr>
          <p:cNvPr id="8" name="Text 6"/>
          <p:cNvSpPr/>
          <p:nvPr/>
        </p:nvSpPr>
        <p:spPr>
          <a:xfrm>
            <a:off x="3530600" y="1823721"/>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639B"/>
                </a:solidFill>
                <a:latin typeface="Arial" pitchFamily="34" charset="0"/>
                <a:ea typeface="Arial" pitchFamily="34" charset="-122"/>
                <a:cs typeface="Arial" pitchFamily="34" charset="-120"/>
              </a:rPr>
              <a:t>4/4</a:t>
            </a:r>
            <a:endParaRPr lang="en-US" sz="6000" dirty="0"/>
          </a:p>
        </p:txBody>
      </p:sp>
      <p:sp>
        <p:nvSpPr>
          <p:cNvPr id="9" name="Text 7"/>
          <p:cNvSpPr/>
          <p:nvPr/>
        </p:nvSpPr>
        <p:spPr>
          <a:xfrm>
            <a:off x="3530600" y="2611121"/>
            <a:ext cx="248539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priorities correct on routed complaints</a:t>
            </a:r>
            <a:endParaRPr lang="en-US" sz="1200" dirty="0"/>
          </a:p>
        </p:txBody>
      </p:sp>
      <p:sp>
        <p:nvSpPr>
          <p:cNvPr id="10" name="Shape 8"/>
          <p:cNvSpPr/>
          <p:nvPr/>
        </p:nvSpPr>
        <p:spPr>
          <a:xfrm>
            <a:off x="6248400" y="1741804"/>
            <a:ext cx="2413000" cy="0"/>
          </a:xfrm>
          <a:prstGeom prst="line">
            <a:avLst/>
          </a:prstGeom>
          <a:noFill/>
          <a:ln w="19050">
            <a:solidFill>
              <a:srgbClr val="0E1A2B"/>
            </a:solidFill>
            <a:prstDash val="solid"/>
          </a:ln>
        </p:spPr>
        <p:txBody>
          <a:bodyPr/>
          <a:lstStyle/>
          <a:p>
            <a:endParaRPr lang="en-IN"/>
          </a:p>
        </p:txBody>
      </p:sp>
      <p:sp>
        <p:nvSpPr>
          <p:cNvPr id="11" name="Text 9"/>
          <p:cNvSpPr/>
          <p:nvPr/>
        </p:nvSpPr>
        <p:spPr>
          <a:xfrm>
            <a:off x="6248400" y="1823721"/>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639B"/>
                </a:solidFill>
                <a:latin typeface="Arial" pitchFamily="34" charset="0"/>
                <a:ea typeface="Arial" pitchFamily="34" charset="-122"/>
                <a:cs typeface="Arial" pitchFamily="34" charset="-120"/>
              </a:rPr>
              <a:t>1/1</a:t>
            </a:r>
            <a:endParaRPr lang="en-US" sz="6000" dirty="0"/>
          </a:p>
        </p:txBody>
      </p:sp>
      <p:sp>
        <p:nvSpPr>
          <p:cNvPr id="12" name="Text 10"/>
          <p:cNvSpPr/>
          <p:nvPr/>
        </p:nvSpPr>
        <p:spPr>
          <a:xfrm>
            <a:off x="6248400" y="2611121"/>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planted duplicate caught</a:t>
            </a:r>
            <a:endParaRPr lang="en-US" sz="1200" dirty="0"/>
          </a:p>
        </p:txBody>
      </p:sp>
      <p:sp>
        <p:nvSpPr>
          <p:cNvPr id="13" name="Shape 11"/>
          <p:cNvSpPr/>
          <p:nvPr/>
        </p:nvSpPr>
        <p:spPr>
          <a:xfrm>
            <a:off x="8966200" y="1741804"/>
            <a:ext cx="2413000" cy="0"/>
          </a:xfrm>
          <a:prstGeom prst="line">
            <a:avLst/>
          </a:prstGeom>
          <a:noFill/>
          <a:ln w="19050">
            <a:solidFill>
              <a:srgbClr val="0E1A2B"/>
            </a:solidFill>
            <a:prstDash val="solid"/>
          </a:ln>
        </p:spPr>
        <p:txBody>
          <a:bodyPr/>
          <a:lstStyle/>
          <a:p>
            <a:endParaRPr lang="en-IN"/>
          </a:p>
        </p:txBody>
      </p:sp>
      <p:sp>
        <p:nvSpPr>
          <p:cNvPr id="14" name="Text 12"/>
          <p:cNvSpPr/>
          <p:nvPr/>
        </p:nvSpPr>
        <p:spPr>
          <a:xfrm>
            <a:off x="8966200" y="1823721"/>
            <a:ext cx="248539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00639B"/>
                </a:solidFill>
                <a:latin typeface="Arial" pitchFamily="34" charset="0"/>
                <a:ea typeface="Arial" pitchFamily="34" charset="-122"/>
                <a:cs typeface="Arial" pitchFamily="34" charset="-120"/>
              </a:rPr>
              <a:t>0</a:t>
            </a:r>
            <a:endParaRPr lang="en-US" sz="6000" dirty="0"/>
          </a:p>
        </p:txBody>
      </p:sp>
      <p:sp>
        <p:nvSpPr>
          <p:cNvPr id="15" name="Text 13"/>
          <p:cNvSpPr/>
          <p:nvPr/>
        </p:nvSpPr>
        <p:spPr>
          <a:xfrm>
            <a:off x="8966200" y="2611121"/>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E4B5C"/>
                </a:solidFill>
                <a:latin typeface="Arial" pitchFamily="34" charset="0"/>
                <a:ea typeface="Arial" pitchFamily="34" charset="-122"/>
                <a:cs typeface="Arial" pitchFamily="34" charset="-120"/>
              </a:rPr>
              <a:t>false duplicate alarms</a:t>
            </a:r>
            <a:endParaRPr lang="en-US" sz="1200" dirty="0"/>
          </a:p>
        </p:txBody>
      </p:sp>
      <p:sp>
        <p:nvSpPr>
          <p:cNvPr id="16" name="Shape 14"/>
          <p:cNvSpPr/>
          <p:nvPr/>
        </p:nvSpPr>
        <p:spPr>
          <a:xfrm>
            <a:off x="812800" y="3139442"/>
            <a:ext cx="10566400" cy="1671320"/>
          </a:xfrm>
          <a:prstGeom prst="rect">
            <a:avLst/>
          </a:prstGeom>
          <a:solidFill>
            <a:srgbClr val="FBFCFA"/>
          </a:solidFill>
          <a:ln/>
        </p:spPr>
        <p:txBody>
          <a:bodyPr/>
          <a:lstStyle/>
          <a:p>
            <a:endParaRPr lang="en-IN"/>
          </a:p>
        </p:txBody>
      </p:sp>
      <p:sp>
        <p:nvSpPr>
          <p:cNvPr id="17" name="Shape 15"/>
          <p:cNvSpPr/>
          <p:nvPr/>
        </p:nvSpPr>
        <p:spPr>
          <a:xfrm>
            <a:off x="11372850" y="3139442"/>
            <a:ext cx="0" cy="1671320"/>
          </a:xfrm>
          <a:prstGeom prst="line">
            <a:avLst/>
          </a:prstGeom>
          <a:noFill/>
          <a:ln w="12700">
            <a:solidFill>
              <a:srgbClr val="0E1A2B"/>
            </a:solidFill>
            <a:prstDash val="solid"/>
          </a:ln>
        </p:spPr>
        <p:txBody>
          <a:bodyPr/>
          <a:lstStyle/>
          <a:p>
            <a:endParaRPr lang="en-IN"/>
          </a:p>
        </p:txBody>
      </p:sp>
      <p:sp>
        <p:nvSpPr>
          <p:cNvPr id="18" name="Shape 16"/>
          <p:cNvSpPr/>
          <p:nvPr/>
        </p:nvSpPr>
        <p:spPr>
          <a:xfrm>
            <a:off x="812800" y="4804413"/>
            <a:ext cx="10566400" cy="0"/>
          </a:xfrm>
          <a:prstGeom prst="line">
            <a:avLst/>
          </a:prstGeom>
          <a:noFill/>
          <a:ln w="12700">
            <a:solidFill>
              <a:srgbClr val="0E1A2B"/>
            </a:solidFill>
            <a:prstDash val="solid"/>
          </a:ln>
        </p:spPr>
        <p:txBody>
          <a:bodyPr/>
          <a:lstStyle/>
          <a:p>
            <a:endParaRPr lang="en-IN"/>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2960" y="3149602"/>
          <a:ext cx="10546080" cy="1651000"/>
        </p:xfrm>
        <a:graphic>
          <a:graphicData uri="http://schemas.openxmlformats.org/drawingml/2006/table">
            <a:tbl>
              <a:tblPr/>
              <a:tblGrid>
                <a:gridCol w="2320138">
                  <a:extLst>
                    <a:ext uri="{9D8B030D-6E8A-4147-A177-3AD203B41FA5}">
                      <a16:colId xmlns:a16="http://schemas.microsoft.com/office/drawing/2014/main" val="20000"/>
                    </a:ext>
                  </a:extLst>
                </a:gridCol>
                <a:gridCol w="4112971">
                  <a:extLst>
                    <a:ext uri="{9D8B030D-6E8A-4147-A177-3AD203B41FA5}">
                      <a16:colId xmlns:a16="http://schemas.microsoft.com/office/drawing/2014/main" val="20001"/>
                    </a:ext>
                  </a:extLst>
                </a:gridCol>
                <a:gridCol w="4112971">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Run</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Local qwen2.5 7B, CPU</a:t>
                      </a:r>
                      <a:endParaRPr lang="en-US" sz="1200" dirty="0">
                        <a:latin typeface="Arial" charset="0"/>
                        <a:ea typeface="Arial" charset="0"/>
                        <a:cs typeface="Arial" charset="0"/>
                      </a:endParaRPr>
                    </a:p>
                  </a:txBody>
                  <a:tcPr marL="53340" marR="53340" marT="53340" marB="53340">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tc>
                  <a:txBody>
                    <a:bodyPr/>
                    <a:lstStyle/>
                    <a:p>
                      <a:pPr marL="0" indent="0">
                        <a:lnSpc>
                          <a:spcPts val="1680"/>
                        </a:lnSpc>
                        <a:buNone/>
                      </a:pPr>
                      <a:r>
                        <a:rPr lang="en-US" sz="1200" b="1" dirty="0">
                          <a:solidFill>
                            <a:srgbClr val="F4F6F2"/>
                          </a:solidFill>
                          <a:latin typeface="Arial" pitchFamily="34" charset="0"/>
                          <a:ea typeface="Arial" pitchFamily="34" charset="-122"/>
                          <a:cs typeface="Arial" pitchFamily="34" charset="-120"/>
                        </a:rPr>
                        <a:t>Gemini Flash Lite, API</a:t>
                      </a:r>
                      <a:endParaRPr lang="en-US" sz="1200" dirty="0">
                        <a:latin typeface="Arial" charset="0"/>
                        <a:ea typeface="Arial" charset="0"/>
                        <a:cs typeface="Arial" charset="0"/>
                      </a:endParaRPr>
                    </a:p>
                  </a:txBody>
                  <a:tcPr marL="53340" marR="53340" marT="53340" marB="53340">
                    <a:lnL w="12700" cap="flat" cmpd="sng" algn="ctr">
                      <a:solidFill>
                        <a:srgbClr val="0F1926"/>
                      </a:solidFill>
                      <a:prstDash val="solid"/>
                      <a:round/>
                      <a:headEnd type="none" w="med" len="med"/>
                      <a:tailEnd type="none" w="med" len="med"/>
                    </a:lnL>
                    <a:lnR w="12700" cap="flat" cmpd="sng" algn="ctr">
                      <a:solidFill>
                        <a:srgbClr val="0F1926"/>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0F1926"/>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Time per complaint</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1.5 to 4 minutes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10 to 15 seconds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0F1926"/>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Duplicates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Agent missed, rule check caught it</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Agent caught it</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Live wires rated high, safety floor fixed it</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Correct on its own</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8C9C7"/>
                      </a:solidFill>
                      <a:prstDash val="solid"/>
                      <a:round/>
                      <a:headEnd type="none" w="med" len="med"/>
                      <a:tailEnd type="none" w="med" len="med"/>
                    </a:lnR>
                    <a:lnT w="12700" cap="flat" cmpd="sng" algn="ctr">
                      <a:solidFill>
                        <a:srgbClr val="C0C4C5"/>
                      </a:solidFill>
                      <a:prstDash val="solid"/>
                      <a:round/>
                      <a:headEnd type="none" w="med" len="med"/>
                      <a:tailEnd type="none" w="med" len="med"/>
                    </a:lnT>
                    <a:lnB w="12700" cap="flat" cmpd="sng" algn="ctr">
                      <a:solidFill>
                        <a:srgbClr val="C8C9C7"/>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Cost and limits</a:t>
                      </a:r>
                      <a:endParaRPr lang="en-US" sz="1200" dirty="0">
                        <a:latin typeface="Arial" charset="0"/>
                        <a:ea typeface="Arial" charset="0"/>
                        <a:cs typeface="Arial" charset="0"/>
                      </a:endParaRPr>
                    </a:p>
                  </a:txBody>
                  <a:tcPr marL="53340" marR="53340" marT="53340" marB="53340">
                    <a:lnL w="12700" cap="flat" cmpd="sng" algn="ctr">
                      <a:solidFill>
                        <a:srgbClr val="C8C9C7"/>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Free, works offline</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tc>
                  <a:txBody>
                    <a:bodyPr/>
                    <a:lstStyle/>
                    <a:p>
                      <a:pPr marL="0" indent="0">
                        <a:lnSpc>
                          <a:spcPts val="1680"/>
                        </a:lnSpc>
                        <a:buNone/>
                      </a:pPr>
                      <a:r>
                        <a:rPr lang="en-US" sz="1200" dirty="0">
                          <a:solidFill>
                            <a:srgbClr val="0E1A2B"/>
                          </a:solidFill>
                          <a:latin typeface="Arial" pitchFamily="34" charset="0"/>
                          <a:ea typeface="Arial" pitchFamily="34" charset="-122"/>
                          <a:cs typeface="Arial" pitchFamily="34" charset="-120"/>
                        </a:rPr>
                        <a:t>Free tier, 15 requests per minute</a:t>
                      </a:r>
                      <a:endParaRPr lang="en-US" sz="1200" dirty="0">
                        <a:latin typeface="Arial" charset="0"/>
                        <a:ea typeface="Arial" charset="0"/>
                        <a:cs typeface="Arial" charset="0"/>
                      </a:endParaRPr>
                    </a:p>
                  </a:txBody>
                  <a:tcPr marL="53340" marR="53340" marT="53340" marB="53340">
                    <a:lnL w="12700" cap="flat" cmpd="sng" algn="ctr">
                      <a:solidFill>
                        <a:srgbClr val="C0C4C5"/>
                      </a:solidFill>
                      <a:prstDash val="solid"/>
                      <a:round/>
                      <a:headEnd type="none" w="med" len="med"/>
                      <a:tailEnd type="none" w="med" len="med"/>
                    </a:lnL>
                    <a:lnR w="12700" cap="flat" cmpd="sng" algn="ctr">
                      <a:solidFill>
                        <a:srgbClr val="C0C4C5"/>
                      </a:solidFill>
                      <a:prstDash val="solid"/>
                      <a:round/>
                      <a:headEnd type="none" w="med" len="med"/>
                      <a:tailEnd type="none" w="med" len="med"/>
                    </a:lnR>
                    <a:lnT w="12700" cap="flat" cmpd="sng" algn="ctr">
                      <a:solidFill>
                        <a:srgbClr val="C8C9C7"/>
                      </a:solidFill>
                      <a:prstDash val="solid"/>
                      <a:round/>
                      <a:headEnd type="none" w="med" len="med"/>
                      <a:tailEnd type="none" w="med" len="med"/>
                    </a:lnT>
                    <a:lnB w="12700" cap="flat" cmpd="sng" algn="ctr">
                      <a:solidFill>
                        <a:srgbClr val="C0C4C5"/>
                      </a:solidFill>
                      <a:prstDash val="solid"/>
                      <a:round/>
                      <a:headEnd type="none" w="med" len="med"/>
                      <a:tailEnd type="none" w="med" len="med"/>
                    </a:lnB>
                    <a:solidFill>
                      <a:srgbClr val="F1F5F7"/>
                    </a:solidFill>
                  </a:tcPr>
                </a:tc>
                <a:extLst>
                  <a:ext uri="{0D108BD9-81ED-4DB2-BD59-A6C34878D82A}">
                    <a16:rowId xmlns:a16="http://schemas.microsoft.com/office/drawing/2014/main" val="10004"/>
                  </a:ext>
                </a:extLst>
              </a:tr>
            </a:tbl>
          </a:graphicData>
        </a:graphic>
      </p:graphicFrame>
      <p:sp>
        <p:nvSpPr>
          <p:cNvPr id="20" name="Text 17"/>
          <p:cNvSpPr/>
          <p:nvPr/>
        </p:nvSpPr>
        <p:spPr>
          <a:xfrm>
            <a:off x="812800" y="5537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Small sample: 5 complaints via Gemini before the free quota ran out, 4 earlier on the local model. Synthetic data from our own templates.</a:t>
            </a:r>
            <a:endParaRPr lang="en-US" sz="1200" dirty="0"/>
          </a:p>
        </p:txBody>
      </p:sp>
      <p:sp>
        <p:nvSpPr>
          <p:cNvPr id="21" name="Text 18"/>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22" name="Text 1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6ED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14 / RESILIENCE</a:t>
            </a:r>
            <a:endParaRPr lang="en-US" sz="1200" dirty="0"/>
          </a:p>
        </p:txBody>
      </p:sp>
      <p:sp>
        <p:nvSpPr>
          <p:cNvPr id="3" name="Text 1"/>
          <p:cNvSpPr>
            <a:spLocks noGrp="1"/>
          </p:cNvSpPr>
          <p:nvPr>
            <p:ph type="title"/>
          </p:nvPr>
        </p:nvSpPr>
        <p:spPr>
          <a:xfrm>
            <a:off x="812800" y="1127764"/>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IF A MODEL FAILS, THE COMPLAINT STILL FINISHES</a:t>
            </a:r>
            <a:endParaRPr lang="en-US" sz="3600" dirty="0"/>
          </a:p>
        </p:txBody>
      </p:sp>
      <p:pic>
        <p:nvPicPr>
          <p:cNvPr id="4" name="Image 0" descr="connector"/>
          <p:cNvPicPr>
            <a:picLocks noChangeAspect="1"/>
          </p:cNvPicPr>
          <p:nvPr/>
        </p:nvPicPr>
        <p:blipFill>
          <a:blip r:embed="rId3"/>
          <a:srcRect/>
          <a:stretch/>
        </p:blipFill>
        <p:spPr>
          <a:xfrm>
            <a:off x="3810000" y="2584450"/>
            <a:ext cx="812800" cy="101600"/>
          </a:xfrm>
          <a:prstGeom prst="rect">
            <a:avLst/>
          </a:prstGeom>
        </p:spPr>
      </p:pic>
      <p:pic>
        <p:nvPicPr>
          <p:cNvPr id="5" name="Image 1" descr="connector"/>
          <p:cNvPicPr>
            <a:picLocks noChangeAspect="1"/>
          </p:cNvPicPr>
          <p:nvPr/>
        </p:nvPicPr>
        <p:blipFill>
          <a:blip r:embed="rId3"/>
          <a:srcRect/>
          <a:stretch/>
        </p:blipFill>
        <p:spPr>
          <a:xfrm>
            <a:off x="7569200" y="2584450"/>
            <a:ext cx="812800" cy="101600"/>
          </a:xfrm>
          <a:prstGeom prst="rect">
            <a:avLst/>
          </a:prstGeom>
        </p:spPr>
      </p:pic>
      <p:sp>
        <p:nvSpPr>
          <p:cNvPr id="6" name="Shape 2"/>
          <p:cNvSpPr/>
          <p:nvPr/>
        </p:nvSpPr>
        <p:spPr>
          <a:xfrm>
            <a:off x="819150" y="2101850"/>
            <a:ext cx="3035300" cy="1066800"/>
          </a:xfrm>
          <a:prstGeom prst="roundRect">
            <a:avLst>
              <a:gd name="adj" fmla="val 6548"/>
            </a:avLst>
          </a:prstGeom>
          <a:solidFill>
            <a:srgbClr val="FBFCFA"/>
          </a:solidFill>
          <a:ln w="12700">
            <a:solidFill>
              <a:srgbClr val="0E1A2B"/>
            </a:solidFill>
            <a:prstDash val="solid"/>
          </a:ln>
        </p:spPr>
        <p:txBody>
          <a:bodyPr/>
          <a:lstStyle/>
          <a:p>
            <a:endParaRPr lang="en-IN"/>
          </a:p>
        </p:txBody>
      </p:sp>
      <p:sp>
        <p:nvSpPr>
          <p:cNvPr id="7" name="Text 3"/>
          <p:cNvSpPr/>
          <p:nvPr/>
        </p:nvSpPr>
        <p:spPr>
          <a:xfrm>
            <a:off x="975360" y="2258064"/>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00639B"/>
                </a:solidFill>
                <a:latin typeface="Courier New" pitchFamily="49" charset="0"/>
                <a:ea typeface="Courier New" pitchFamily="49" charset="-122"/>
                <a:cs typeface="Courier New" pitchFamily="49" charset="-120"/>
              </a:rPr>
              <a:t>1 · MAIN</a:t>
            </a:r>
            <a:endParaRPr lang="en-US" sz="1196" dirty="0"/>
          </a:p>
        </p:txBody>
      </p:sp>
      <p:sp>
        <p:nvSpPr>
          <p:cNvPr id="8" name="Text 4"/>
          <p:cNvSpPr/>
          <p:nvPr/>
        </p:nvSpPr>
        <p:spPr>
          <a:xfrm>
            <a:off x="975360" y="2516584"/>
            <a:ext cx="2804567" cy="2627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Gemini Flash Lite</a:t>
            </a:r>
            <a:endParaRPr lang="en-US" sz="1560" dirty="0"/>
          </a:p>
        </p:txBody>
      </p:sp>
      <p:sp>
        <p:nvSpPr>
          <p:cNvPr id="9" name="Text 5"/>
          <p:cNvSpPr/>
          <p:nvPr/>
        </p:nvSpPr>
        <p:spPr>
          <a:xfrm>
            <a:off x="975360" y="2804716"/>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3E4B5C"/>
                </a:solidFill>
                <a:latin typeface="Arial" pitchFamily="34" charset="0"/>
                <a:ea typeface="Arial" pitchFamily="34" charset="-122"/>
                <a:cs typeface="Arial" pitchFamily="34" charset="-120"/>
              </a:rPr>
              <a:t>fast, about 10 s per complaint</a:t>
            </a:r>
            <a:endParaRPr lang="en-US" sz="1196" dirty="0"/>
          </a:p>
        </p:txBody>
      </p:sp>
      <p:sp>
        <p:nvSpPr>
          <p:cNvPr id="10" name="Shape 6"/>
          <p:cNvSpPr/>
          <p:nvPr/>
        </p:nvSpPr>
        <p:spPr>
          <a:xfrm>
            <a:off x="4578350" y="2101850"/>
            <a:ext cx="3035300" cy="1066800"/>
          </a:xfrm>
          <a:prstGeom prst="roundRect">
            <a:avLst>
              <a:gd name="adj" fmla="val 6548"/>
            </a:avLst>
          </a:prstGeom>
          <a:solidFill>
            <a:srgbClr val="FBFCFA"/>
          </a:solidFill>
          <a:ln w="12700">
            <a:solidFill>
              <a:srgbClr val="0E1A2B"/>
            </a:solidFill>
            <a:prstDash val="solid"/>
          </a:ln>
        </p:spPr>
        <p:txBody>
          <a:bodyPr/>
          <a:lstStyle/>
          <a:p>
            <a:endParaRPr lang="en-IN"/>
          </a:p>
        </p:txBody>
      </p:sp>
      <p:sp>
        <p:nvSpPr>
          <p:cNvPr id="11" name="Text 7"/>
          <p:cNvSpPr/>
          <p:nvPr/>
        </p:nvSpPr>
        <p:spPr>
          <a:xfrm>
            <a:off x="4734560" y="2258064"/>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00639B"/>
                </a:solidFill>
                <a:latin typeface="Courier New" pitchFamily="49" charset="0"/>
                <a:ea typeface="Courier New" pitchFamily="49" charset="-122"/>
                <a:cs typeface="Courier New" pitchFamily="49" charset="-120"/>
              </a:rPr>
              <a:t>2 · BACKUP</a:t>
            </a:r>
            <a:endParaRPr lang="en-US" sz="1196" dirty="0"/>
          </a:p>
        </p:txBody>
      </p:sp>
      <p:sp>
        <p:nvSpPr>
          <p:cNvPr id="12" name="Text 8"/>
          <p:cNvSpPr/>
          <p:nvPr/>
        </p:nvSpPr>
        <p:spPr>
          <a:xfrm>
            <a:off x="4734560" y="2516584"/>
            <a:ext cx="2804567" cy="2627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0E1A2B"/>
                </a:solidFill>
                <a:latin typeface="Arial" pitchFamily="34" charset="0"/>
                <a:ea typeface="Arial" pitchFamily="34" charset="-122"/>
                <a:cs typeface="Arial" pitchFamily="34" charset="-120"/>
              </a:rPr>
              <a:t>Gemini Flash</a:t>
            </a:r>
            <a:endParaRPr lang="en-US" sz="1560" dirty="0"/>
          </a:p>
        </p:txBody>
      </p:sp>
      <p:sp>
        <p:nvSpPr>
          <p:cNvPr id="13" name="Text 9"/>
          <p:cNvSpPr/>
          <p:nvPr/>
        </p:nvSpPr>
        <p:spPr>
          <a:xfrm>
            <a:off x="4734560" y="2804716"/>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3E4B5C"/>
                </a:solidFill>
                <a:latin typeface="Arial" pitchFamily="34" charset="0"/>
                <a:ea typeface="Arial" pitchFamily="34" charset="-122"/>
                <a:cs typeface="Arial" pitchFamily="34" charset="-120"/>
              </a:rPr>
              <a:t>separate quota, larger model</a:t>
            </a:r>
            <a:endParaRPr lang="en-US" sz="1196" dirty="0"/>
          </a:p>
        </p:txBody>
      </p:sp>
      <p:sp>
        <p:nvSpPr>
          <p:cNvPr id="14" name="Shape 10"/>
          <p:cNvSpPr/>
          <p:nvPr/>
        </p:nvSpPr>
        <p:spPr>
          <a:xfrm>
            <a:off x="8337550" y="2101850"/>
            <a:ext cx="3035300" cy="1066800"/>
          </a:xfrm>
          <a:prstGeom prst="roundRect">
            <a:avLst>
              <a:gd name="adj" fmla="val 6548"/>
            </a:avLst>
          </a:prstGeom>
          <a:solidFill>
            <a:srgbClr val="0E1A2B"/>
          </a:solidFill>
          <a:ln w="12700">
            <a:solidFill>
              <a:srgbClr val="0E1A2B"/>
            </a:solidFill>
            <a:prstDash val="solid"/>
          </a:ln>
        </p:spPr>
        <p:txBody>
          <a:bodyPr/>
          <a:lstStyle/>
          <a:p>
            <a:endParaRPr lang="en-IN"/>
          </a:p>
        </p:txBody>
      </p:sp>
      <p:sp>
        <p:nvSpPr>
          <p:cNvPr id="15" name="Text 11"/>
          <p:cNvSpPr/>
          <p:nvPr/>
        </p:nvSpPr>
        <p:spPr>
          <a:xfrm>
            <a:off x="8493760" y="2258064"/>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F29A2E"/>
                </a:solidFill>
                <a:latin typeface="Courier New" pitchFamily="49" charset="0"/>
                <a:ea typeface="Courier New" pitchFamily="49" charset="-122"/>
                <a:cs typeface="Courier New" pitchFamily="49" charset="-120"/>
              </a:rPr>
              <a:t>3 · ALWAYS LAST</a:t>
            </a:r>
            <a:endParaRPr lang="en-US" sz="1196" dirty="0"/>
          </a:p>
        </p:txBody>
      </p:sp>
      <p:sp>
        <p:nvSpPr>
          <p:cNvPr id="16" name="Text 12"/>
          <p:cNvSpPr/>
          <p:nvPr/>
        </p:nvSpPr>
        <p:spPr>
          <a:xfrm>
            <a:off x="8493760" y="2516584"/>
            <a:ext cx="2804567" cy="262731"/>
          </a:xfrm>
          <a:prstGeom prst="rect">
            <a:avLst/>
          </a:prstGeom>
          <a:noFill/>
          <a:ln/>
        </p:spPr>
        <p:txBody>
          <a:bodyPr wrap="square" lIns="0" tIns="0" rIns="0" bIns="0" rtlCol="0" anchor="t">
            <a:normAutofit/>
          </a:bodyPr>
          <a:lstStyle/>
          <a:p>
            <a:pPr marL="0" indent="0" algn="l">
              <a:lnSpc>
                <a:spcPts val="1872"/>
              </a:lnSpc>
              <a:buNone/>
            </a:pPr>
            <a:r>
              <a:rPr lang="en-US" sz="1560" b="1" dirty="0">
                <a:solidFill>
                  <a:srgbClr val="F4F6F2"/>
                </a:solidFill>
                <a:latin typeface="Arial" pitchFamily="34" charset="0"/>
                <a:ea typeface="Arial" pitchFamily="34" charset="-122"/>
                <a:cs typeface="Arial" pitchFamily="34" charset="-120"/>
              </a:rPr>
              <a:t>Local civic-qwen</a:t>
            </a:r>
            <a:endParaRPr lang="en-US" sz="1560" dirty="0"/>
          </a:p>
        </p:txBody>
      </p:sp>
      <p:sp>
        <p:nvSpPr>
          <p:cNvPr id="17" name="Text 13"/>
          <p:cNvSpPr/>
          <p:nvPr/>
        </p:nvSpPr>
        <p:spPr>
          <a:xfrm>
            <a:off x="8493760" y="2804716"/>
            <a:ext cx="2804567" cy="233124"/>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B9C6D6"/>
                </a:solidFill>
                <a:latin typeface="Arial" pitchFamily="34" charset="0"/>
                <a:ea typeface="Arial" pitchFamily="34" charset="-122"/>
                <a:cs typeface="Arial" pitchFamily="34" charset="-120"/>
              </a:rPr>
              <a:t>slow, but works with no internet</a:t>
            </a:r>
            <a:endParaRPr lang="en-US" sz="1196" dirty="0"/>
          </a:p>
        </p:txBody>
      </p:sp>
      <p:sp>
        <p:nvSpPr>
          <p:cNvPr id="18" name="Shape 14"/>
          <p:cNvSpPr/>
          <p:nvPr/>
        </p:nvSpPr>
        <p:spPr>
          <a:xfrm>
            <a:off x="812800" y="3692525"/>
            <a:ext cx="10566400" cy="0"/>
          </a:xfrm>
          <a:prstGeom prst="line">
            <a:avLst/>
          </a:prstGeom>
          <a:noFill/>
          <a:ln w="19050">
            <a:solidFill>
              <a:srgbClr val="0E1A2B"/>
            </a:solidFill>
            <a:prstDash val="solid"/>
          </a:ln>
        </p:spPr>
        <p:txBody>
          <a:bodyPr/>
          <a:lstStyle/>
          <a:p>
            <a:endParaRPr lang="en-IN"/>
          </a:p>
        </p:txBody>
      </p:sp>
      <p:sp>
        <p:nvSpPr>
          <p:cNvPr id="19" name="Text 15"/>
          <p:cNvSpPr/>
          <p:nvPr/>
        </p:nvSpPr>
        <p:spPr>
          <a:xfrm>
            <a:off x="812800" y="3850642"/>
            <a:ext cx="36626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B"/>
                </a:solidFill>
                <a:latin typeface="Arial" pitchFamily="34" charset="0"/>
                <a:ea typeface="Arial" pitchFamily="34" charset="-122"/>
                <a:cs typeface="Arial" pitchFamily="34" charset="-120"/>
              </a:rPr>
              <a:t>429: per-minute limit hit</a:t>
            </a:r>
            <a:endParaRPr lang="en-US" sz="1400" dirty="0"/>
          </a:p>
        </p:txBody>
      </p:sp>
      <p:sp>
        <p:nvSpPr>
          <p:cNvPr id="20" name="Text 16"/>
          <p:cNvSpPr/>
          <p:nvPr/>
        </p:nvSpPr>
        <p:spPr>
          <a:xfrm>
            <a:off x="4673600" y="3850642"/>
            <a:ext cx="6906768" cy="274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Wait the time Google asks for, about 35 seconds, and retry the same model up to 3 times.</a:t>
            </a:r>
            <a:endParaRPr lang="en-US" sz="1200" dirty="0"/>
          </a:p>
        </p:txBody>
      </p:sp>
      <p:sp>
        <p:nvSpPr>
          <p:cNvPr id="21" name="Shape 17"/>
          <p:cNvSpPr/>
          <p:nvPr/>
        </p:nvSpPr>
        <p:spPr>
          <a:xfrm>
            <a:off x="812800" y="4261489"/>
            <a:ext cx="10566400" cy="0"/>
          </a:xfrm>
          <a:prstGeom prst="line">
            <a:avLst/>
          </a:prstGeom>
          <a:noFill/>
          <a:ln w="19050">
            <a:solidFill>
              <a:srgbClr val="0E1A2B"/>
            </a:solidFill>
            <a:prstDash val="solid"/>
          </a:ln>
        </p:spPr>
        <p:txBody>
          <a:bodyPr/>
          <a:lstStyle/>
          <a:p>
            <a:endParaRPr lang="en-IN"/>
          </a:p>
        </p:txBody>
      </p:sp>
      <p:sp>
        <p:nvSpPr>
          <p:cNvPr id="22" name="Shape 18"/>
          <p:cNvSpPr/>
          <p:nvPr/>
        </p:nvSpPr>
        <p:spPr>
          <a:xfrm>
            <a:off x="812800" y="4826639"/>
            <a:ext cx="10566400" cy="0"/>
          </a:xfrm>
          <a:prstGeom prst="line">
            <a:avLst/>
          </a:prstGeom>
          <a:noFill/>
          <a:ln w="19050">
            <a:solidFill>
              <a:srgbClr val="0E1A2B"/>
            </a:solidFill>
            <a:prstDash val="solid"/>
          </a:ln>
        </p:spPr>
        <p:txBody>
          <a:bodyPr/>
          <a:lstStyle/>
          <a:p>
            <a:endParaRPr lang="en-IN"/>
          </a:p>
        </p:txBody>
      </p:sp>
      <p:sp>
        <p:nvSpPr>
          <p:cNvPr id="23" name="Text 19"/>
          <p:cNvSpPr/>
          <p:nvPr/>
        </p:nvSpPr>
        <p:spPr>
          <a:xfrm>
            <a:off x="812800" y="4419600"/>
            <a:ext cx="366268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E1A2B"/>
                </a:solidFill>
                <a:latin typeface="Arial" pitchFamily="34" charset="0"/>
                <a:ea typeface="Arial" pitchFamily="34" charset="-122"/>
                <a:cs typeface="Arial" pitchFamily="34" charset="-120"/>
              </a:rPr>
              <a:t>503 overloaded, or daily quota used</a:t>
            </a:r>
            <a:endParaRPr lang="en-US" sz="1400" dirty="0"/>
          </a:p>
        </p:txBody>
      </p:sp>
      <p:sp>
        <p:nvSpPr>
          <p:cNvPr id="24" name="Text 20"/>
          <p:cNvSpPr/>
          <p:nvPr/>
        </p:nvSpPr>
        <p:spPr>
          <a:xfrm>
            <a:off x="4673600" y="4419600"/>
            <a:ext cx="6906768" cy="274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B5C"/>
                </a:solidFill>
                <a:latin typeface="Arial" pitchFamily="34" charset="0"/>
                <a:ea typeface="Arial" pitchFamily="34" charset="-122"/>
                <a:cs typeface="Arial" pitchFamily="34" charset="-120"/>
              </a:rPr>
              <a:t>Move to the next model in the chain. The next agent call tries the main model again.</a:t>
            </a:r>
            <a:endParaRPr lang="en-US" sz="1200" dirty="0"/>
          </a:p>
        </p:txBody>
      </p:sp>
      <p:sp>
        <p:nvSpPr>
          <p:cNvPr id="25" name="Text 21"/>
          <p:cNvSpPr/>
          <p:nvPr/>
        </p:nvSpPr>
        <p:spPr>
          <a:xfrm>
            <a:off x="812800" y="55372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A2B"/>
                </a:solidFill>
                <a:latin typeface="Arial" pitchFamily="34" charset="0"/>
                <a:ea typeface="Arial" pitchFamily="34" charset="-122"/>
                <a:cs typeface="Arial" pitchFamily="34" charset="-120"/>
              </a:rPr>
              <a:t>Local or API is a sidebar switch; models and backups live in config.json, not in the code.</a:t>
            </a:r>
            <a:endParaRPr lang="en-US" sz="1200" dirty="0"/>
          </a:p>
        </p:txBody>
      </p:sp>
      <p:sp>
        <p:nvSpPr>
          <p:cNvPr id="26" name="Text 2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27"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00639B"/>
                </a:solidFill>
                <a:latin typeface="Courier New" pitchFamily="49" charset="0"/>
                <a:ea typeface="Courier New" pitchFamily="49" charset="-122"/>
                <a:cs typeface="Courier New" pitchFamily="49" charset="-120"/>
              </a:rPr>
              <a:t>15 / LIMITS AND NEXT STEPS</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E1A2B"/>
                </a:solidFill>
                <a:latin typeface="Arial" pitchFamily="34" charset="0"/>
                <a:ea typeface="Arial" pitchFamily="34" charset="-122"/>
                <a:cs typeface="Arial" pitchFamily="34" charset="-120"/>
              </a:rPr>
              <a:t>WHAT A PROTOTYPE LEAVES OPEN</a:t>
            </a:r>
            <a:endParaRPr lang="en-US" sz="3600" dirty="0"/>
          </a:p>
        </p:txBody>
      </p:sp>
      <p:sp>
        <p:nvSpPr>
          <p:cNvPr id="4" name="Text 2"/>
          <p:cNvSpPr/>
          <p:nvPr/>
        </p:nvSpPr>
        <p:spPr>
          <a:xfrm>
            <a:off x="812800" y="1732279"/>
            <a:ext cx="512775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E1A2B"/>
                </a:solidFill>
                <a:latin typeface="Arial" pitchFamily="34" charset="0"/>
                <a:ea typeface="Arial" pitchFamily="34" charset="-122"/>
                <a:cs typeface="Arial" pitchFamily="34" charset="-120"/>
              </a:rPr>
              <a:t>LIMITS TODAY</a:t>
            </a:r>
            <a:endParaRPr lang="en-US" sz="2200" dirty="0"/>
          </a:p>
        </p:txBody>
      </p:sp>
      <p:sp>
        <p:nvSpPr>
          <p:cNvPr id="5" name="Shape 3"/>
          <p:cNvSpPr/>
          <p:nvPr/>
        </p:nvSpPr>
        <p:spPr>
          <a:xfrm>
            <a:off x="812800" y="2178689"/>
            <a:ext cx="4978400" cy="0"/>
          </a:xfrm>
          <a:prstGeom prst="line">
            <a:avLst/>
          </a:prstGeom>
          <a:noFill/>
          <a:ln w="19050">
            <a:solidFill>
              <a:srgbClr val="0E1A2B"/>
            </a:solidFill>
            <a:prstDash val="solid"/>
          </a:ln>
        </p:spPr>
        <p:txBody>
          <a:bodyPr/>
          <a:lstStyle/>
          <a:p>
            <a:endParaRPr lang="en-IN"/>
          </a:p>
        </p:txBody>
      </p:sp>
      <p:sp>
        <p:nvSpPr>
          <p:cNvPr id="6" name="Text 4"/>
          <p:cNvSpPr/>
          <p:nvPr/>
        </p:nvSpPr>
        <p:spPr>
          <a:xfrm>
            <a:off x="812800" y="2311404"/>
            <a:ext cx="5127752" cy="467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Synthetic complaints and a fictional charter; templates are easier than real text</a:t>
            </a:r>
            <a:endParaRPr lang="en-US" sz="1200" dirty="0"/>
          </a:p>
        </p:txBody>
      </p:sp>
      <p:sp>
        <p:nvSpPr>
          <p:cNvPr id="7" name="Shape 5"/>
          <p:cNvSpPr/>
          <p:nvPr/>
        </p:nvSpPr>
        <p:spPr>
          <a:xfrm>
            <a:off x="812800" y="2886714"/>
            <a:ext cx="4978400" cy="0"/>
          </a:xfrm>
          <a:prstGeom prst="line">
            <a:avLst/>
          </a:prstGeom>
          <a:noFill/>
          <a:ln w="12700">
            <a:solidFill>
              <a:srgbClr val="C5D2DC"/>
            </a:solidFill>
            <a:prstDash val="solid"/>
          </a:ln>
        </p:spPr>
        <p:txBody>
          <a:bodyPr/>
          <a:lstStyle/>
          <a:p>
            <a:endParaRPr lang="en-IN"/>
          </a:p>
        </p:txBody>
      </p:sp>
      <p:sp>
        <p:nvSpPr>
          <p:cNvPr id="8" name="Text 6"/>
          <p:cNvSpPr/>
          <p:nvPr/>
        </p:nvSpPr>
        <p:spPr>
          <a:xfrm>
            <a:off x="812800" y="3017524"/>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Small evaluation sample, capped by the free API quota</a:t>
            </a:r>
            <a:endParaRPr lang="en-US" sz="1200" dirty="0"/>
          </a:p>
        </p:txBody>
      </p:sp>
      <p:sp>
        <p:nvSpPr>
          <p:cNvPr id="9" name="Shape 7"/>
          <p:cNvSpPr/>
          <p:nvPr/>
        </p:nvSpPr>
        <p:spPr>
          <a:xfrm>
            <a:off x="812800" y="3371850"/>
            <a:ext cx="4978400" cy="0"/>
          </a:xfrm>
          <a:prstGeom prst="line">
            <a:avLst/>
          </a:prstGeom>
          <a:noFill/>
          <a:ln w="12700">
            <a:solidFill>
              <a:srgbClr val="C5D2DC"/>
            </a:solidFill>
            <a:prstDash val="solid"/>
          </a:ln>
        </p:spPr>
        <p:txBody>
          <a:bodyPr/>
          <a:lstStyle/>
          <a:p>
            <a:endParaRPr lang="en-IN"/>
          </a:p>
        </p:txBody>
      </p:sp>
      <p:sp>
        <p:nvSpPr>
          <p:cNvPr id="10" name="Text 8"/>
          <p:cNvSpPr/>
          <p:nvPr/>
        </p:nvSpPr>
        <p:spPr>
          <a:xfrm>
            <a:off x="812800" y="3502660"/>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2 to 3 minutes per complaint on a CPU-only laptop</a:t>
            </a:r>
            <a:endParaRPr lang="en-US" sz="1200" dirty="0"/>
          </a:p>
        </p:txBody>
      </p:sp>
      <p:sp>
        <p:nvSpPr>
          <p:cNvPr id="11" name="Shape 9"/>
          <p:cNvSpPr/>
          <p:nvPr/>
        </p:nvSpPr>
        <p:spPr>
          <a:xfrm>
            <a:off x="812800" y="3856992"/>
            <a:ext cx="4978400" cy="0"/>
          </a:xfrm>
          <a:prstGeom prst="line">
            <a:avLst/>
          </a:prstGeom>
          <a:noFill/>
          <a:ln w="12700">
            <a:solidFill>
              <a:srgbClr val="C5D2DC"/>
            </a:solidFill>
            <a:prstDash val="solid"/>
          </a:ln>
        </p:spPr>
        <p:txBody>
          <a:bodyPr/>
          <a:lstStyle/>
          <a:p>
            <a:endParaRPr lang="en-IN"/>
          </a:p>
        </p:txBody>
      </p:sp>
      <p:sp>
        <p:nvSpPr>
          <p:cNvPr id="12" name="Shape 10"/>
          <p:cNvSpPr/>
          <p:nvPr/>
        </p:nvSpPr>
        <p:spPr>
          <a:xfrm>
            <a:off x="812800" y="4339592"/>
            <a:ext cx="4978400" cy="0"/>
          </a:xfrm>
          <a:prstGeom prst="line">
            <a:avLst/>
          </a:prstGeom>
          <a:noFill/>
          <a:ln w="12700">
            <a:solidFill>
              <a:srgbClr val="C5D2DC"/>
            </a:solidFill>
            <a:prstDash val="solid"/>
          </a:ln>
        </p:spPr>
        <p:txBody>
          <a:bodyPr/>
          <a:lstStyle/>
          <a:p>
            <a:endParaRPr lang="en-IN"/>
          </a:p>
        </p:txBody>
      </p:sp>
      <p:sp>
        <p:nvSpPr>
          <p:cNvPr id="13" name="Text 11"/>
          <p:cNvSpPr/>
          <p:nvPr/>
        </p:nvSpPr>
        <p:spPr>
          <a:xfrm>
            <a:off x="812800" y="3987802"/>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Dashboards have no login yet</a:t>
            </a:r>
            <a:endParaRPr lang="en-US" sz="1200" dirty="0"/>
          </a:p>
        </p:txBody>
      </p:sp>
      <p:sp>
        <p:nvSpPr>
          <p:cNvPr id="14" name="Text 12"/>
          <p:cNvSpPr/>
          <p:nvPr/>
        </p:nvSpPr>
        <p:spPr>
          <a:xfrm>
            <a:off x="6400800" y="1732279"/>
            <a:ext cx="5127752"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639B"/>
                </a:solidFill>
                <a:latin typeface="Arial" pitchFamily="34" charset="0"/>
                <a:ea typeface="Arial" pitchFamily="34" charset="-122"/>
                <a:cs typeface="Arial" pitchFamily="34" charset="-120"/>
              </a:rPr>
              <a:t>NEXT STEPS</a:t>
            </a:r>
            <a:endParaRPr lang="en-US" sz="2200" dirty="0"/>
          </a:p>
        </p:txBody>
      </p:sp>
      <p:sp>
        <p:nvSpPr>
          <p:cNvPr id="15" name="Shape 13"/>
          <p:cNvSpPr/>
          <p:nvPr/>
        </p:nvSpPr>
        <p:spPr>
          <a:xfrm>
            <a:off x="6400800" y="2178689"/>
            <a:ext cx="4978400" cy="0"/>
          </a:xfrm>
          <a:prstGeom prst="line">
            <a:avLst/>
          </a:prstGeom>
          <a:noFill/>
          <a:ln w="19050">
            <a:solidFill>
              <a:srgbClr val="00639B"/>
            </a:solidFill>
            <a:prstDash val="solid"/>
          </a:ln>
        </p:spPr>
        <p:txBody>
          <a:bodyPr/>
          <a:lstStyle/>
          <a:p>
            <a:endParaRPr lang="en-IN"/>
          </a:p>
        </p:txBody>
      </p:sp>
      <p:sp>
        <p:nvSpPr>
          <p:cNvPr id="16" name="Text 14"/>
          <p:cNvSpPr/>
          <p:nvPr/>
        </p:nvSpPr>
        <p:spPr>
          <a:xfrm>
            <a:off x="6400800" y="2311404"/>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Real channels from the last n8n node: WhatsApp, SMS, email</a:t>
            </a:r>
            <a:endParaRPr lang="en-US" sz="1200" dirty="0"/>
          </a:p>
        </p:txBody>
      </p:sp>
      <p:sp>
        <p:nvSpPr>
          <p:cNvPr id="17" name="Shape 15"/>
          <p:cNvSpPr/>
          <p:nvPr/>
        </p:nvSpPr>
        <p:spPr>
          <a:xfrm>
            <a:off x="6400800" y="2665729"/>
            <a:ext cx="4978400" cy="0"/>
          </a:xfrm>
          <a:prstGeom prst="line">
            <a:avLst/>
          </a:prstGeom>
          <a:noFill/>
          <a:ln w="12700">
            <a:solidFill>
              <a:srgbClr val="C5D2DC"/>
            </a:solidFill>
            <a:prstDash val="solid"/>
          </a:ln>
        </p:spPr>
        <p:txBody>
          <a:bodyPr/>
          <a:lstStyle/>
          <a:p>
            <a:endParaRPr lang="en-IN"/>
          </a:p>
        </p:txBody>
      </p:sp>
      <p:sp>
        <p:nvSpPr>
          <p:cNvPr id="18" name="Text 16"/>
          <p:cNvSpPr/>
          <p:nvPr/>
        </p:nvSpPr>
        <p:spPr>
          <a:xfrm>
            <a:off x="6400800" y="2796539"/>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Photo and GPS intake from citizens</a:t>
            </a:r>
            <a:endParaRPr lang="en-US" sz="1200" dirty="0"/>
          </a:p>
        </p:txBody>
      </p:sp>
      <p:sp>
        <p:nvSpPr>
          <p:cNvPr id="19" name="Shape 17"/>
          <p:cNvSpPr/>
          <p:nvPr/>
        </p:nvSpPr>
        <p:spPr>
          <a:xfrm>
            <a:off x="6400800" y="3150871"/>
            <a:ext cx="4978400" cy="0"/>
          </a:xfrm>
          <a:prstGeom prst="line">
            <a:avLst/>
          </a:prstGeom>
          <a:noFill/>
          <a:ln w="12700">
            <a:solidFill>
              <a:srgbClr val="C5D2DC"/>
            </a:solidFill>
            <a:prstDash val="solid"/>
          </a:ln>
        </p:spPr>
        <p:txBody>
          <a:bodyPr/>
          <a:lstStyle/>
          <a:p>
            <a:endParaRPr lang="en-IN"/>
          </a:p>
        </p:txBody>
      </p:sp>
      <p:sp>
        <p:nvSpPr>
          <p:cNvPr id="20" name="Text 18"/>
          <p:cNvSpPr/>
          <p:nvPr/>
        </p:nvSpPr>
        <p:spPr>
          <a:xfrm>
            <a:off x="6400800" y="3281681"/>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SLA monitor on an hourly schedule</a:t>
            </a:r>
            <a:endParaRPr lang="en-US" sz="1200" dirty="0"/>
          </a:p>
        </p:txBody>
      </p:sp>
      <p:sp>
        <p:nvSpPr>
          <p:cNvPr id="21" name="Shape 19"/>
          <p:cNvSpPr/>
          <p:nvPr/>
        </p:nvSpPr>
        <p:spPr>
          <a:xfrm>
            <a:off x="6400800" y="3636014"/>
            <a:ext cx="4978400" cy="0"/>
          </a:xfrm>
          <a:prstGeom prst="line">
            <a:avLst/>
          </a:prstGeom>
          <a:noFill/>
          <a:ln w="12700">
            <a:solidFill>
              <a:srgbClr val="C5D2DC"/>
            </a:solidFill>
            <a:prstDash val="solid"/>
          </a:ln>
        </p:spPr>
        <p:txBody>
          <a:bodyPr/>
          <a:lstStyle/>
          <a:p>
            <a:endParaRPr lang="en-IN"/>
          </a:p>
        </p:txBody>
      </p:sp>
      <p:sp>
        <p:nvSpPr>
          <p:cNvPr id="22" name="Shape 20"/>
          <p:cNvSpPr/>
          <p:nvPr/>
        </p:nvSpPr>
        <p:spPr>
          <a:xfrm>
            <a:off x="6400800" y="4118614"/>
            <a:ext cx="4978400" cy="0"/>
          </a:xfrm>
          <a:prstGeom prst="line">
            <a:avLst/>
          </a:prstGeom>
          <a:noFill/>
          <a:ln w="12700">
            <a:solidFill>
              <a:srgbClr val="C5D2DC"/>
            </a:solidFill>
            <a:prstDash val="solid"/>
          </a:ln>
        </p:spPr>
        <p:txBody>
          <a:bodyPr/>
          <a:lstStyle/>
          <a:p>
            <a:endParaRPr lang="en-IN"/>
          </a:p>
        </p:txBody>
      </p:sp>
      <p:sp>
        <p:nvSpPr>
          <p:cNvPr id="23" name="Text 21"/>
          <p:cNvSpPr/>
          <p:nvPr/>
        </p:nvSpPr>
        <p:spPr>
          <a:xfrm>
            <a:off x="6400800" y="3766824"/>
            <a:ext cx="5127752" cy="2463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0E1A2B"/>
                </a:solidFill>
                <a:latin typeface="Arial" pitchFamily="34" charset="0"/>
                <a:ea typeface="Arial" pitchFamily="34" charset="-122"/>
                <a:cs typeface="Arial" pitchFamily="34" charset="-120"/>
              </a:rPr>
              <a:t>Test on real municipal complaints with a larger answer key</a:t>
            </a:r>
            <a:endParaRPr lang="en-US" sz="1200" dirty="0"/>
          </a:p>
        </p:txBody>
      </p:sp>
      <p:sp>
        <p:nvSpPr>
          <p:cNvPr id="24" name="Text 22"/>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Arial" pitchFamily="34" charset="0"/>
                <a:ea typeface="Arial" pitchFamily="34" charset="-122"/>
                <a:cs typeface="Arial" pitchFamily="34" charset="-120"/>
              </a:rPr>
              <a:t>Group 8 · Civic Complaint Resolution Crew</a:t>
            </a:r>
            <a:endParaRPr lang="en-US" sz="1200" dirty="0"/>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Courier New" pitchFamily="49" charset="0"/>
                <a:ea typeface="Courier New" pitchFamily="49" charset="-122"/>
                <a:cs typeface="Courier New"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A2B"/>
        </a:solidFill>
        <a:effectLst/>
      </p:bgPr>
    </p:bg>
    <p:spTree>
      <p:nvGrpSpPr>
        <p:cNvPr id="1" name=""/>
        <p:cNvGrpSpPr/>
        <p:nvPr/>
      </p:nvGrpSpPr>
      <p:grpSpPr>
        <a:xfrm>
          <a:off x="0" y="0"/>
          <a:ext cx="0" cy="0"/>
          <a:chOff x="0" y="0"/>
          <a:chExt cx="0" cy="0"/>
        </a:xfrm>
      </p:grpSpPr>
      <p:sp>
        <p:nvSpPr>
          <p:cNvPr id="2" name="Shape 0"/>
          <p:cNvSpPr/>
          <p:nvPr/>
        </p:nvSpPr>
        <p:spPr>
          <a:xfrm>
            <a:off x="0" y="0"/>
            <a:ext cx="101600" cy="6858000"/>
          </a:xfrm>
          <a:prstGeom prst="rect">
            <a:avLst/>
          </a:prstGeom>
          <a:solidFill>
            <a:srgbClr val="0093DD"/>
          </a:solidFill>
          <a:ln/>
        </p:spPr>
        <p:txBody>
          <a:bodyPr/>
          <a:lstStyle/>
          <a:p>
            <a:endParaRPr lang="en-IN"/>
          </a:p>
        </p:txBody>
      </p:sp>
      <p:pic>
        <p:nvPicPr>
          <p:cNvPr id="3" name="Image 0" descr="FORE School of Management logo"/>
          <p:cNvPicPr>
            <a:picLocks noChangeAspect="1"/>
          </p:cNvPicPr>
          <p:nvPr/>
        </p:nvPicPr>
        <p:blipFill>
          <a:blip r:embed="rId3"/>
          <a:srcRect t="-114" b="-114"/>
          <a:stretch/>
        </p:blipFill>
        <p:spPr>
          <a:xfrm>
            <a:off x="812800" y="812800"/>
            <a:ext cx="2082800" cy="635000"/>
          </a:xfrm>
          <a:prstGeom prst="rect">
            <a:avLst/>
          </a:prstGeom>
        </p:spPr>
      </p:pic>
      <p:sp>
        <p:nvSpPr>
          <p:cNvPr id="4" name="Text 1"/>
          <p:cNvSpPr>
            <a:spLocks noGrp="1"/>
          </p:cNvSpPr>
          <p:nvPr>
            <p:ph type="title"/>
          </p:nvPr>
        </p:nvSpPr>
        <p:spPr>
          <a:xfrm>
            <a:off x="812800" y="2529842"/>
            <a:ext cx="10883392" cy="787400"/>
          </a:xfrm>
          <a:prstGeom prst="rect">
            <a:avLst/>
          </a:prstGeom>
          <a:noFill/>
          <a:ln/>
        </p:spPr>
        <p:txBody>
          <a:bodyPr wrap="square" lIns="0" tIns="0" rIns="0" bIns="0" rtlCol="0" anchor="t">
            <a:normAutofit/>
          </a:bodyPr>
          <a:lstStyle/>
          <a:p>
            <a:pPr marL="0" indent="0" algn="l">
              <a:lnSpc>
                <a:spcPts val="6000"/>
              </a:lnSpc>
              <a:buNone/>
            </a:pPr>
            <a:r>
              <a:rPr lang="en-US" sz="6000" b="1" i="0" dirty="0">
                <a:solidFill>
                  <a:srgbClr val="F4F6F2"/>
                </a:solidFill>
                <a:latin typeface="Arial" pitchFamily="34" charset="0"/>
                <a:ea typeface="Arial" pitchFamily="34" charset="-122"/>
                <a:cs typeface="Arial" pitchFamily="34" charset="-120"/>
              </a:rPr>
              <a:t>THANK YOU</a:t>
            </a:r>
            <a:endParaRPr lang="en-US" sz="6000" dirty="0"/>
          </a:p>
        </p:txBody>
      </p:sp>
      <p:sp>
        <p:nvSpPr>
          <p:cNvPr id="5" name="Text 2"/>
          <p:cNvSpPr/>
          <p:nvPr/>
        </p:nvSpPr>
        <p:spPr>
          <a:xfrm>
            <a:off x="812800" y="3444242"/>
            <a:ext cx="1088339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9C6D6"/>
                </a:solidFill>
                <a:latin typeface="Arial" pitchFamily="34" charset="0"/>
                <a:ea typeface="Arial" pitchFamily="34" charset="-122"/>
                <a:cs typeface="Arial" pitchFamily="34" charset="-120"/>
              </a:rPr>
              <a:t>Questions, and a live demo if time allows.</a:t>
            </a:r>
            <a:endParaRPr lang="en-US" sz="2200" dirty="0"/>
          </a:p>
        </p:txBody>
      </p:sp>
      <p:sp>
        <p:nvSpPr>
          <p:cNvPr id="6" name="Text 3"/>
          <p:cNvSpPr/>
          <p:nvPr/>
        </p:nvSpPr>
        <p:spPr>
          <a:xfrm>
            <a:off x="812800" y="3959858"/>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9A2E"/>
                </a:solidFill>
                <a:latin typeface="Courier New" pitchFamily="49" charset="0"/>
                <a:ea typeface="Courier New" pitchFamily="49" charset="-122"/>
                <a:cs typeface="Courier New" pitchFamily="49" charset="-120"/>
              </a:rPr>
              <a:t>github.com/armaan-lakhanpal/civic-complaint-crew</a:t>
            </a:r>
            <a:endParaRPr lang="en-US" sz="1600" dirty="0"/>
          </a:p>
        </p:txBody>
      </p:sp>
      <p:sp>
        <p:nvSpPr>
          <p:cNvPr id="7" name="Shape 4"/>
          <p:cNvSpPr/>
          <p:nvPr/>
        </p:nvSpPr>
        <p:spPr>
          <a:xfrm>
            <a:off x="812800" y="5332735"/>
            <a:ext cx="10566400" cy="0"/>
          </a:xfrm>
          <a:prstGeom prst="line">
            <a:avLst/>
          </a:prstGeom>
          <a:noFill/>
          <a:ln w="12700">
            <a:solidFill>
              <a:srgbClr val="3A4A60"/>
            </a:solidFill>
            <a:prstDash val="solid"/>
          </a:ln>
        </p:spPr>
        <p:txBody>
          <a:bodyPr/>
          <a:lstStyle/>
          <a:p>
            <a:endParaRPr lang="en-IN"/>
          </a:p>
        </p:txBody>
      </p:sp>
      <p:sp>
        <p:nvSpPr>
          <p:cNvPr id="8" name="Text 5"/>
          <p:cNvSpPr/>
          <p:nvPr/>
        </p:nvSpPr>
        <p:spPr>
          <a:xfrm>
            <a:off x="812800" y="54889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29A2E"/>
                </a:solidFill>
                <a:latin typeface="Courier New" pitchFamily="49" charset="0"/>
                <a:ea typeface="Courier New" pitchFamily="49" charset="-122"/>
                <a:cs typeface="Courier New" pitchFamily="49" charset="-120"/>
              </a:rPr>
              <a:t>GROUP 8</a:t>
            </a:r>
            <a:endParaRPr lang="en-US" sz="1200" dirty="0"/>
          </a:p>
        </p:txBody>
      </p:sp>
      <p:sp>
        <p:nvSpPr>
          <p:cNvPr id="9" name="Text 6"/>
          <p:cNvSpPr/>
          <p:nvPr/>
        </p:nvSpPr>
        <p:spPr>
          <a:xfrm>
            <a:off x="812800" y="5778500"/>
            <a:ext cx="108833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4F6F2"/>
                </a:solidFill>
                <a:latin typeface="Arial" pitchFamily="34" charset="0"/>
                <a:ea typeface="Arial" pitchFamily="34" charset="-122"/>
                <a:cs typeface="Arial" pitchFamily="34" charset="-120"/>
              </a:rPr>
              <a:t>Akshat Tanwar · Manav Verma · Kavya Dangwal · Sushant Kumar · Anurag Gupta · Khushal Arora · Armaan Lakhanpal</a:t>
            </a:r>
            <a:endParaRPr lang="en-US" sz="1400" dirty="0"/>
          </a:p>
        </p:txBody>
      </p:sp>
    </p:spTree>
  </p:cSld>
  <p:clrMapOvr>
    <a:masterClrMapping/>
  </p:clrMapOvr>
</p:sld>
</file>

<file path=ppt/theme/theme1.xml><?xml version="1.0" encoding="utf-8"?>
<a:theme xmlns:a="http://schemas.openxmlformats.org/drawingml/2006/main" name="Civic Complaint Resolution Crew">
  <a:themeElements>
    <a:clrScheme name="Civic Complaint Resolution Crew">
      <a:dk1>
        <a:srgbClr val="0E1A2B"/>
      </a:dk1>
      <a:lt1>
        <a:srgbClr val="F4F6F2"/>
      </a:lt1>
      <a:dk2>
        <a:srgbClr val="48515D"/>
      </a:dk2>
      <a:lt2>
        <a:srgbClr val="DDE0DE"/>
      </a:lt2>
      <a:accent1>
        <a:srgbClr val="00639B"/>
      </a:accent1>
      <a:accent2>
        <a:srgbClr val="F29A2E"/>
      </a:accent2>
      <a:accent3>
        <a:srgbClr val="0093DD"/>
      </a:accent3>
      <a:accent4>
        <a:srgbClr val="8A4B00"/>
      </a:accent4>
      <a:accent5>
        <a:srgbClr val="FBD9AE"/>
      </a:accent5>
      <a:accent6>
        <a:srgbClr val="3E4B5C"/>
      </a:accent6>
      <a:hlink>
        <a:srgbClr val="0563C1"/>
      </a:hlink>
      <a:folHlink>
        <a:srgbClr val="954F72"/>
      </a:folHlink>
    </a:clrScheme>
    <a:fontScheme name="Civic Complaint Resolution Cr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422</TotalTime>
  <Words>2539</Words>
  <Application>Microsoft Office PowerPoint</Application>
  <PresentationFormat>Widescreen</PresentationFormat>
  <Paragraphs>347</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Civic Complaint Resolution Crew</vt:lpstr>
      <vt:lpstr>CIVIC COMPLAINT RESOLUTION CREW</vt:lpstr>
      <vt:lpstr>SORTING COMPLAINTS IS THE SLOW PART</vt:lpstr>
      <vt:lpstr>A crew of five AI agents that reads every complaint, checks the city's rulebook and acts on it, with a log of why.</vt:lpstr>
      <vt:lpstr>SIX PARTS, ONE LOOP</vt:lpstr>
      <vt:lpstr>A FLOW WITH A FORK</vt:lpstr>
      <vt:lpstr>WHO DOES WHAT</vt:lpstr>
      <vt:lpstr>THE LLM DECIDES, RULES CHECK</vt:lpstr>
      <vt:lpstr>ONE COMPLAINT, START TO FINISH</vt:lpstr>
      <vt:lpstr>LATE COMPLAINTS CLIMB THE LADDER</vt:lpstr>
      <vt:lpstr>AGENTS DECIDE, N8N DELIVERS</vt:lpstr>
      <vt:lpstr>ONE FOR CITIZENS, ONE FOR THE CITY</vt:lpstr>
      <vt:lpstr>ALL OF IT RUNS ON ONE LAPTOP</vt:lpstr>
      <vt:lpstr>SCORED AGAINST AN ANSWER KEY</vt:lpstr>
      <vt:lpstr>IF A MODEL FAILS, THE COMPLAINT STILL FINISHES</vt:lpstr>
      <vt:lpstr>WHAT A PROTOTYPE LEAVES OPEN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Civic Complaint Resolution Crew</dc:title>
  <dc:subject/>
  <dc:creator/>
  <cp:lastModifiedBy>Armaan Lakhanpal</cp:lastModifiedBy>
  <cp:revision>2</cp:revision>
  <dcterms:created xsi:type="dcterms:W3CDTF">2026-10-07T16:20:59Z</dcterms:created>
  <dcterms:modified xsi:type="dcterms:W3CDTF">2026-10-08T09:16:40Z</dcterms:modified>
</cp:coreProperties>
</file>